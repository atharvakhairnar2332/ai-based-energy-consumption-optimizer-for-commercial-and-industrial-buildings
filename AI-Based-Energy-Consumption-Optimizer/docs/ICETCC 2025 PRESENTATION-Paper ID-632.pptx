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495516D7-1BE4-42FF-915C-DF82BCB40BA1}"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15402664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151234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495516D7-1BE4-42FF-915C-DF82BCB40BA1}"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824309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495516D7-1BE4-42FF-915C-DF82BCB40BA1}"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8697252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495516D7-1BE4-42FF-915C-DF82BCB40BA1}" type="datetimeFigureOut">
              <a:rPr lang="en-US" smtClean="0"/>
              <a:t>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5422169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495516D7-1BE4-42FF-915C-DF82BCB40BA1}" type="datetimeFigureOut">
              <a:rPr lang="en-US" smtClean="0"/>
              <a:t>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3930798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5516D7-1BE4-42FF-915C-DF82BCB40BA1}" type="datetimeFigureOut">
              <a:rPr lang="en-US" smtClean="0"/>
              <a:t>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18770264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5516D7-1BE4-42FF-915C-DF82BCB40BA1}"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496747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95516D7-1BE4-42FF-915C-DF82BCB40BA1}" type="datetimeFigureOut">
              <a:rPr lang="en-US" smtClean="0"/>
              <a:t>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8277316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7406439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95516D7-1BE4-42FF-915C-DF82BCB40BA1}" type="datetimeFigureOut">
              <a:rPr lang="en-US" smtClean="0"/>
              <a:t>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F4498D-634D-45F6-B65F-DB7A81CF5FF8}" type="slidenum">
              <a:rPr lang="en-US" smtClean="0"/>
              <a:t>‹#›</a:t>
            </a:fld>
            <a:endParaRPr lang="en-US"/>
          </a:p>
        </p:txBody>
      </p:sp>
    </p:spTree>
    <p:extLst>
      <p:ext uri="{BB962C8B-B14F-4D97-AF65-F5344CB8AC3E}">
        <p14:creationId xmlns:p14="http://schemas.microsoft.com/office/powerpoint/2010/main" val="24492705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95516D7-1BE4-42FF-915C-DF82BCB40BA1}" type="datetimeFigureOut">
              <a:rPr lang="en-US" smtClean="0"/>
              <a:t>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F4498D-634D-45F6-B65F-DB7A81CF5FF8}" type="slidenum">
              <a:rPr lang="en-US" smtClean="0"/>
              <a:t>‹#›</a:t>
            </a:fld>
            <a:endParaRPr lang="en-US"/>
          </a:p>
        </p:txBody>
      </p:sp>
    </p:spTree>
    <p:extLst>
      <p:ext uri="{BB962C8B-B14F-4D97-AF65-F5344CB8AC3E}">
        <p14:creationId xmlns:p14="http://schemas.microsoft.com/office/powerpoint/2010/main" val="21517693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786114" y="-142850"/>
            <a:ext cx="9144000" cy="2387600"/>
          </a:xfrm>
        </p:spPr>
        <p:txBody>
          <a:bodyPr>
            <a:normAutofit/>
          </a:bodyPr>
          <a:lstStyle/>
          <a:p>
            <a:r>
              <a:rPr lang="en-US" sz="4000" b="1" dirty="0">
                <a:solidFill>
                  <a:srgbClr val="C00000"/>
                </a:solidFill>
                <a:effectLst>
                  <a:outerShdw blurRad="38100" dist="38100" dir="2700000" algn="tl">
                    <a:srgbClr val="000000">
                      <a:alpha val="43137"/>
                    </a:srgbClr>
                  </a:outerShdw>
                </a:effectLst>
              </a:rPr>
              <a:t>International Conference on Emerging Trends in Computers and Communications (ICETCC )</a:t>
            </a:r>
            <a:endParaRPr lang="en-US" sz="4000" b="1" dirty="0">
              <a:solidFill>
                <a:srgbClr val="00B05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86114" y="2780697"/>
            <a:ext cx="9144000" cy="3255962"/>
          </a:xfrm>
        </p:spPr>
        <p:txBody>
          <a:bodyPr>
            <a:normAutofit/>
          </a:bodyPr>
          <a:lstStyle/>
          <a:p>
            <a:r>
              <a:rPr lang="en-US" dirty="0"/>
              <a:t>AI-Powered Predictive and Reinforcement Learning System for Energy Optimization in Industrial and Commercial Buildings</a:t>
            </a:r>
            <a:br>
              <a:rPr lang="en-GB" dirty="0"/>
            </a:br>
            <a:endParaRPr lang="en-GB" dirty="0"/>
          </a:p>
          <a:p>
            <a:r>
              <a:rPr lang="en-GB" b="1" spc="-1" dirty="0">
                <a:solidFill>
                  <a:srgbClr val="4C4C4C"/>
                </a:solidFill>
                <a:latin typeface="Arial"/>
              </a:rPr>
              <a:t>Paper ID: </a:t>
            </a:r>
            <a:r>
              <a:rPr lang="en-IN" dirty="0"/>
              <a:t>632</a:t>
            </a:r>
          </a:p>
          <a:p>
            <a:endParaRPr lang="en-GB" b="1" spc="-1" dirty="0">
              <a:solidFill>
                <a:srgbClr val="4C4C4C"/>
              </a:solidFill>
              <a:latin typeface="Arial"/>
            </a:endParaRPr>
          </a:p>
          <a:p>
            <a:r>
              <a:rPr lang="en-GB" b="1" spc="-1">
                <a:solidFill>
                  <a:srgbClr val="4C4C4C"/>
                </a:solidFill>
                <a:latin typeface="Arial"/>
              </a:rPr>
              <a:t>Atharva Khairnar</a:t>
            </a:r>
            <a:endParaRPr lang="en-GB" b="1" spc="-1" dirty="0">
              <a:solidFill>
                <a:srgbClr val="4C4C4C"/>
              </a:solidFill>
              <a:latin typeface="Arial"/>
            </a:endParaRPr>
          </a:p>
          <a:p>
            <a:r>
              <a:rPr lang="en-GB" b="1" spc="-1" dirty="0">
                <a:solidFill>
                  <a:srgbClr val="4C4C4C"/>
                </a:solidFill>
                <a:latin typeface="Arial"/>
              </a:rPr>
              <a:t>Vishwakarma Institute Of Technology ,Pune</a:t>
            </a:r>
          </a:p>
          <a:p>
            <a:endParaRPr lang="en-GB" b="1" spc="-1" dirty="0">
              <a:solidFill>
                <a:srgbClr val="4C4C4C"/>
              </a:solidFill>
              <a:latin typeface="Arial"/>
            </a:endParaRP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2112682" cy="1050950"/>
          </a:xfrm>
          <a:prstGeom prst="rect">
            <a:avLst/>
          </a:prstGeom>
        </p:spPr>
      </p:pic>
      <p:pic>
        <p:nvPicPr>
          <p:cNvPr id="7" name="Picture 6">
            <a:extLst>
              <a:ext uri="{FF2B5EF4-FFF2-40B4-BE49-F238E27FC236}">
                <a16:creationId xmlns:a16="http://schemas.microsoft.com/office/drawing/2014/main" id="{8FACAD4C-43EE-5557-C050-9C3926799F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94398" y="5705475"/>
            <a:ext cx="2271432" cy="1152525"/>
          </a:xfrm>
          <a:prstGeom prst="rect">
            <a:avLst/>
          </a:prstGeom>
        </p:spPr>
      </p:pic>
    </p:spTree>
    <p:extLst>
      <p:ext uri="{BB962C8B-B14F-4D97-AF65-F5344CB8AC3E}">
        <p14:creationId xmlns:p14="http://schemas.microsoft.com/office/powerpoint/2010/main" val="8989440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7571" y="-252046"/>
            <a:ext cx="10515600" cy="1325563"/>
          </a:xfrm>
        </p:spPr>
        <p:txBody>
          <a:bodyPr/>
          <a:lstStyle/>
          <a:p>
            <a:pPr algn="ctr"/>
            <a:r>
              <a:rPr lang="en-US" b="1" dirty="0"/>
              <a:t>Introduction</a:t>
            </a:r>
            <a:endParaRPr lang="en-US" dirty="0"/>
          </a:p>
        </p:txBody>
      </p:sp>
      <p:sp>
        <p:nvSpPr>
          <p:cNvPr id="3" name="Content Placeholder 2"/>
          <p:cNvSpPr>
            <a:spLocks noGrp="1"/>
          </p:cNvSpPr>
          <p:nvPr>
            <p:ph idx="1"/>
          </p:nvPr>
        </p:nvSpPr>
        <p:spPr>
          <a:xfrm>
            <a:off x="259701" y="1107168"/>
            <a:ext cx="10515600" cy="4351338"/>
          </a:xfrm>
        </p:spPr>
        <p:txBody>
          <a:bodyPr>
            <a:normAutofit/>
          </a:bodyPr>
          <a:lstStyle/>
          <a:p>
            <a:r>
              <a:rPr lang="en-US" sz="2000" b="1" dirty="0"/>
              <a:t>Problem Statement </a:t>
            </a:r>
            <a:r>
              <a:rPr lang="en-US" sz="2000" dirty="0"/>
              <a:t>- Buildings use more energy than needed because current systems can’t adjust well to changes in people, weather, and usage. This causes higher bills and more pollution. Thus, this project uses AI to predict and manage electricity use in big buildings (like offices or factories) to save energy and reduce costs, while keeping people comfortable.</a:t>
            </a:r>
          </a:p>
          <a:p>
            <a:pPr marL="0" indent="0">
              <a:buNone/>
            </a:pPr>
            <a:endParaRPr lang="en-US" sz="2000" dirty="0"/>
          </a:p>
        </p:txBody>
      </p:sp>
      <p:sp>
        <p:nvSpPr>
          <p:cNvPr id="4" name="Rectangle 1">
            <a:extLst>
              <a:ext uri="{FF2B5EF4-FFF2-40B4-BE49-F238E27FC236}">
                <a16:creationId xmlns:a16="http://schemas.microsoft.com/office/drawing/2014/main" id="{235C7B4F-F410-8847-F7F1-ABFB27D8B18C}"/>
              </a:ext>
            </a:extLst>
          </p:cNvPr>
          <p:cNvSpPr>
            <a:spLocks noChangeArrowheads="1"/>
          </p:cNvSpPr>
          <p:nvPr/>
        </p:nvSpPr>
        <p:spPr bwMode="auto">
          <a:xfrm>
            <a:off x="259700" y="2365428"/>
            <a:ext cx="11932299"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b="0" i="0" u="none" strike="noStrike" cap="none" normalizeH="0" baseline="0" dirty="0">
                <a:ln>
                  <a:noFill/>
                </a:ln>
                <a:solidFill>
                  <a:schemeClr val="tx1"/>
                </a:solidFill>
                <a:effectLst/>
                <a:latin typeface="Arial" panose="020B0604020202020204" pitchFamily="34" charset="0"/>
              </a:rPr>
              <a:t>Rising industrial and commercial energy demand is causing higher costs, grid load, and environmental impact.</a:t>
            </a:r>
          </a:p>
          <a:p>
            <a:pPr marR="0" lvl="0" algn="l" defTabSz="914400" rtl="0" eaLnBrk="0" fontAlgn="base" latinLnBrk="0" hangingPunct="0">
              <a:lnSpc>
                <a:spcPct val="100000"/>
              </a:lnSpc>
              <a:spcBef>
                <a:spcPct val="0"/>
              </a:spcBef>
              <a:spcAft>
                <a:spcPct val="0"/>
              </a:spcAft>
              <a:buClrTx/>
              <a:buSzTx/>
              <a:tabLst/>
            </a:pPr>
            <a:endParaRPr kumimoji="0" lang="en-US" altLang="en-US"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Proposed solution: </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lang="en-US" altLang="en-US" dirty="0">
                <a:latin typeface="Arial" panose="020B0604020202020204" pitchFamily="34" charset="0"/>
              </a:rPr>
              <a:t>A</a:t>
            </a:r>
            <a:r>
              <a:rPr kumimoji="0" lang="en-US" altLang="en-US" sz="1800" b="0" i="0" u="none" strike="noStrike" cap="none" normalizeH="0" baseline="0" dirty="0">
                <a:ln>
                  <a:noFill/>
                </a:ln>
                <a:solidFill>
                  <a:schemeClr val="tx1"/>
                </a:solidFill>
                <a:effectLst/>
                <a:latin typeface="Arial" panose="020B0604020202020204" pitchFamily="34" charset="0"/>
              </a:rPr>
              <a:t>n AI framework combining time-series forecasting and reinforcement learning.</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Forecasting predicts next-day energy demand using historical usage patterns.</a:t>
            </a:r>
            <a:endParaRPr lang="en-US" altLang="en-US" dirty="0">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RL(reinforcement learning) optimizes scheduling of high-load devices to reduce wastage and peak demand charges.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Built fully from scratch with core algorithms, unlike existing subsystem-specific solutions.</a:t>
            </a: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342900" marR="0" lvl="0" indent="-342900" algn="l" defTabSz="914400" rtl="0" eaLnBrk="0" fontAlgn="base" latinLnBrk="0" hangingPunct="0">
              <a:lnSpc>
                <a:spcPct val="100000"/>
              </a:lnSpc>
              <a:spcBef>
                <a:spcPct val="0"/>
              </a:spcBef>
              <a:spcAft>
                <a:spcPct val="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Arial" panose="020B0604020202020204" pitchFamily="34" charset="0"/>
              </a:rPr>
              <a:t>Scalable for offices, IT parks, factories, hotels, and future smart-city applications.</a:t>
            </a:r>
          </a:p>
        </p:txBody>
      </p:sp>
      <p:cxnSp>
        <p:nvCxnSpPr>
          <p:cNvPr id="5" name="Straight Connector 4">
            <a:extLst>
              <a:ext uri="{FF2B5EF4-FFF2-40B4-BE49-F238E27FC236}">
                <a16:creationId xmlns:a16="http://schemas.microsoft.com/office/drawing/2014/main" id="{4A49B77E-73BB-7AF4-5274-66A15EE9FE8E}"/>
              </a:ext>
            </a:extLst>
          </p:cNvPr>
          <p:cNvCxnSpPr/>
          <p:nvPr/>
        </p:nvCxnSpPr>
        <p:spPr>
          <a:xfrm>
            <a:off x="83976" y="806765"/>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8918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C7B67-A704-DAA4-9C38-6360B2ADFF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24E312-8E58-427E-FF4B-B926800C370C}"/>
              </a:ext>
            </a:extLst>
          </p:cNvPr>
          <p:cNvSpPr>
            <a:spLocks noGrp="1"/>
          </p:cNvSpPr>
          <p:nvPr>
            <p:ph type="title"/>
          </p:nvPr>
        </p:nvSpPr>
        <p:spPr>
          <a:xfrm>
            <a:off x="614265" y="-273703"/>
            <a:ext cx="10515600" cy="1325563"/>
          </a:xfrm>
        </p:spPr>
        <p:txBody>
          <a:bodyPr/>
          <a:lstStyle/>
          <a:p>
            <a:pPr algn="ctr"/>
            <a:r>
              <a:rPr lang="en-US" b="1" dirty="0"/>
              <a:t>Purpose</a:t>
            </a:r>
            <a:endParaRPr lang="en-US" dirty="0"/>
          </a:p>
        </p:txBody>
      </p:sp>
      <p:sp>
        <p:nvSpPr>
          <p:cNvPr id="6" name="Content Placeholder 5">
            <a:extLst>
              <a:ext uri="{FF2B5EF4-FFF2-40B4-BE49-F238E27FC236}">
                <a16:creationId xmlns:a16="http://schemas.microsoft.com/office/drawing/2014/main" id="{BD1450DF-4852-1C98-E1CF-86A48AB2BBDF}"/>
              </a:ext>
            </a:extLst>
          </p:cNvPr>
          <p:cNvSpPr>
            <a:spLocks noGrp="1"/>
          </p:cNvSpPr>
          <p:nvPr>
            <p:ph idx="1"/>
          </p:nvPr>
        </p:nvSpPr>
        <p:spPr>
          <a:xfrm>
            <a:off x="390330" y="1259632"/>
            <a:ext cx="10739535" cy="4805363"/>
          </a:xfrm>
        </p:spPr>
        <p:txBody>
          <a:bodyPr>
            <a:normAutofit fontScale="92500"/>
          </a:bodyPr>
          <a:lstStyle/>
          <a:p>
            <a:pPr marL="0" lvl="0" indent="0" eaLnBrk="0" fontAlgn="base" hangingPunct="0">
              <a:lnSpc>
                <a:spcPct val="100000"/>
              </a:lnSpc>
              <a:spcBef>
                <a:spcPct val="0"/>
              </a:spcBef>
              <a:spcAft>
                <a:spcPct val="0"/>
              </a:spcAft>
              <a:buFontTx/>
              <a:buChar char="•"/>
            </a:pPr>
            <a:r>
              <a:rPr lang="en-US" altLang="en-US" sz="2400" dirty="0"/>
              <a:t>Rising energy costs and climate change concerns demand smarter energy management solutions.</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FontTx/>
              <a:buChar char="•"/>
            </a:pPr>
            <a:r>
              <a:rPr lang="en-US" altLang="en-US" sz="2400" dirty="0"/>
              <a:t>In commercial and industrial buildings, HVAC(</a:t>
            </a:r>
            <a:r>
              <a:rPr lang="en-US" sz="2400" dirty="0"/>
              <a:t>Heating, Ventilation, and Air Conditioning)</a:t>
            </a:r>
            <a:r>
              <a:rPr lang="en-US" altLang="en-US" sz="2400" dirty="0"/>
              <a:t> and lighting account for 50–70% of total energy use, yet are often operated inefficiently.</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FontTx/>
              <a:buChar char="•"/>
            </a:pPr>
            <a:r>
              <a:rPr lang="en-US" altLang="en-US" sz="2400" dirty="0"/>
              <a:t>Traditional rule-based control systems cannot adapt to dynamic factors like occupancy, weather, or real-time demand.</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FontTx/>
              <a:buChar char="•"/>
            </a:pPr>
            <a:r>
              <a:rPr lang="en-US" altLang="en-US" sz="2400" dirty="0"/>
              <a:t>AI-driven forecasting and optimization (using PPO + LSTM) offers the opportunity to achieve significant energy savings while ensuring occupant comfort.</a:t>
            </a:r>
          </a:p>
          <a:p>
            <a:pPr marL="0" lvl="0" indent="0" eaLnBrk="0" fontAlgn="base" hangingPunct="0">
              <a:lnSpc>
                <a:spcPct val="100000"/>
              </a:lnSpc>
              <a:spcBef>
                <a:spcPct val="0"/>
              </a:spcBef>
              <a:spcAft>
                <a:spcPct val="0"/>
              </a:spcAft>
              <a:buNone/>
            </a:pPr>
            <a:endParaRPr lang="en-US" altLang="en-US" sz="2400" dirty="0"/>
          </a:p>
          <a:p>
            <a:pPr marL="0" lvl="0" indent="0" eaLnBrk="0" fontAlgn="base" hangingPunct="0">
              <a:lnSpc>
                <a:spcPct val="100000"/>
              </a:lnSpc>
              <a:spcBef>
                <a:spcPct val="0"/>
              </a:spcBef>
              <a:spcAft>
                <a:spcPct val="0"/>
              </a:spcAft>
              <a:buFontTx/>
              <a:buChar char="•"/>
            </a:pPr>
            <a:r>
              <a:rPr lang="en-US" altLang="en-US" sz="2400" dirty="0"/>
              <a:t>This project aims to contribute towards sustainable development goals (SDGs) by reducing energy waste, lowering emissions, and enabling smarter infrastructure.</a:t>
            </a:r>
          </a:p>
          <a:p>
            <a:endParaRPr lang="en-IN" dirty="0"/>
          </a:p>
        </p:txBody>
      </p:sp>
      <p:cxnSp>
        <p:nvCxnSpPr>
          <p:cNvPr id="7" name="Straight Connector 6">
            <a:extLst>
              <a:ext uri="{FF2B5EF4-FFF2-40B4-BE49-F238E27FC236}">
                <a16:creationId xmlns:a16="http://schemas.microsoft.com/office/drawing/2014/main" id="{D7A6E522-0E40-EC40-5FBC-971BF64717C0}"/>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64077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13C1E-A2D1-72C4-85B5-AC272EE3B6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25E06A-B73C-16C4-6073-ED40294605CE}"/>
              </a:ext>
            </a:extLst>
          </p:cNvPr>
          <p:cNvSpPr>
            <a:spLocks noGrp="1"/>
          </p:cNvSpPr>
          <p:nvPr>
            <p:ph type="title"/>
          </p:nvPr>
        </p:nvSpPr>
        <p:spPr>
          <a:xfrm>
            <a:off x="642257" y="-189143"/>
            <a:ext cx="10515600" cy="1325563"/>
          </a:xfrm>
        </p:spPr>
        <p:txBody>
          <a:bodyPr/>
          <a:lstStyle/>
          <a:p>
            <a:pPr algn="ctr"/>
            <a:r>
              <a:rPr lang="en-US" b="1" dirty="0"/>
              <a:t>Objectives</a:t>
            </a:r>
          </a:p>
        </p:txBody>
      </p:sp>
      <p:sp>
        <p:nvSpPr>
          <p:cNvPr id="6" name="Content Placeholder 5">
            <a:extLst>
              <a:ext uri="{FF2B5EF4-FFF2-40B4-BE49-F238E27FC236}">
                <a16:creationId xmlns:a16="http://schemas.microsoft.com/office/drawing/2014/main" id="{184C4537-BE89-2C4F-A2D4-2731024619B6}"/>
              </a:ext>
            </a:extLst>
          </p:cNvPr>
          <p:cNvSpPr>
            <a:spLocks noGrp="1"/>
          </p:cNvSpPr>
          <p:nvPr>
            <p:ph idx="1"/>
          </p:nvPr>
        </p:nvSpPr>
        <p:spPr>
          <a:xfrm>
            <a:off x="166395" y="634481"/>
            <a:ext cx="10739535" cy="2528597"/>
          </a:xfrm>
        </p:spPr>
        <p:txBody>
          <a:bodyPr>
            <a:normAutofit/>
          </a:bodyPr>
          <a:lstStyle/>
          <a:p>
            <a:pPr marL="0" indent="0">
              <a:buNone/>
            </a:pPr>
            <a:endParaRPr lang="en-US" sz="2400" dirty="0"/>
          </a:p>
          <a:p>
            <a:pPr>
              <a:buFont typeface="Wingdings" panose="05000000000000000000" pitchFamily="2" charset="2"/>
              <a:buChar char="§"/>
            </a:pPr>
            <a:r>
              <a:rPr lang="en-US" sz="2000" b="1" dirty="0"/>
              <a:t>Objective</a:t>
            </a:r>
            <a:r>
              <a:rPr lang="en-US" sz="2000" dirty="0"/>
              <a:t> - Design an intelligent energy management system that predicts energy demand patterns and applies reinforcement learning to optimize energy consumption in real time. By combining accurate forecasting with adaptive control, the system aims to minimize costs, improve efficiency, and support sustainability goals in industrial and commercial buildings, while providing actionable insights through an interactive application.</a:t>
            </a:r>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a:p>
            <a:pPr>
              <a:buFont typeface="Wingdings" panose="05000000000000000000" pitchFamily="2" charset="2"/>
              <a:buChar char="§"/>
            </a:pPr>
            <a:endParaRPr lang="en-US" sz="2400" dirty="0"/>
          </a:p>
        </p:txBody>
      </p:sp>
      <p:sp>
        <p:nvSpPr>
          <p:cNvPr id="3" name="TextBox 2">
            <a:extLst>
              <a:ext uri="{FF2B5EF4-FFF2-40B4-BE49-F238E27FC236}">
                <a16:creationId xmlns:a16="http://schemas.microsoft.com/office/drawing/2014/main" id="{D4A26564-59D5-4096-7FF0-73C0D7708ED1}"/>
              </a:ext>
            </a:extLst>
          </p:cNvPr>
          <p:cNvSpPr txBox="1"/>
          <p:nvPr/>
        </p:nvSpPr>
        <p:spPr>
          <a:xfrm>
            <a:off x="320349" y="2906486"/>
            <a:ext cx="10431625" cy="3477875"/>
          </a:xfrm>
          <a:prstGeom prst="rect">
            <a:avLst/>
          </a:prstGeom>
          <a:noFill/>
        </p:spPr>
        <p:txBody>
          <a:bodyPr wrap="square" rtlCol="0">
            <a:spAutoFit/>
          </a:bodyPr>
          <a:lstStyle/>
          <a:p>
            <a:pPr lvl="0" eaLnBrk="0" fontAlgn="base" hangingPunct="0">
              <a:spcBef>
                <a:spcPct val="0"/>
              </a:spcBef>
              <a:spcAft>
                <a:spcPct val="0"/>
              </a:spcAft>
            </a:pPr>
            <a:r>
              <a:rPr lang="en-US" altLang="en-US" sz="2000" dirty="0"/>
              <a:t>1.To forecast building energy consumption using predictive models (LSTM).</a:t>
            </a:r>
          </a:p>
          <a:p>
            <a:pPr lvl="0" eaLnBrk="0" fontAlgn="base" hangingPunct="0">
              <a:spcBef>
                <a:spcPct val="0"/>
              </a:spcBef>
              <a:spcAft>
                <a:spcPct val="0"/>
              </a:spcAft>
            </a:pPr>
            <a:endParaRPr lang="en-US" altLang="en-US" sz="2000" dirty="0"/>
          </a:p>
          <a:p>
            <a:pPr lvl="0" eaLnBrk="0" fontAlgn="base" hangingPunct="0">
              <a:spcBef>
                <a:spcPct val="0"/>
              </a:spcBef>
              <a:spcAft>
                <a:spcPct val="0"/>
              </a:spcAft>
            </a:pPr>
            <a:r>
              <a:rPr lang="en-US" altLang="en-US" sz="2000" dirty="0"/>
              <a:t>2.To optimize energy usage dynamically with reinforcement learning (PPO).</a:t>
            </a:r>
          </a:p>
          <a:p>
            <a:pPr lvl="0" eaLnBrk="0" fontAlgn="base" hangingPunct="0">
              <a:spcBef>
                <a:spcPct val="0"/>
              </a:spcBef>
              <a:spcAft>
                <a:spcPct val="0"/>
              </a:spcAft>
            </a:pPr>
            <a:endParaRPr lang="en-US" altLang="en-US" sz="2000" dirty="0"/>
          </a:p>
          <a:p>
            <a:pPr lvl="0" eaLnBrk="0" fontAlgn="base" hangingPunct="0">
              <a:spcBef>
                <a:spcPct val="0"/>
              </a:spcBef>
              <a:spcAft>
                <a:spcPct val="0"/>
              </a:spcAft>
            </a:pPr>
            <a:r>
              <a:rPr lang="en-US" altLang="en-US" sz="2000" dirty="0"/>
              <a:t>3.To reduce overall energy costs while maintaining operational efficiency.</a:t>
            </a:r>
          </a:p>
          <a:p>
            <a:pPr lvl="0" eaLnBrk="0" fontAlgn="base" hangingPunct="0">
              <a:spcBef>
                <a:spcPct val="0"/>
              </a:spcBef>
              <a:spcAft>
                <a:spcPct val="0"/>
              </a:spcAft>
            </a:pPr>
            <a:endParaRPr lang="en-US" altLang="en-US" sz="2000" dirty="0"/>
          </a:p>
          <a:p>
            <a:pPr lvl="0" eaLnBrk="0" fontAlgn="base" hangingPunct="0">
              <a:spcBef>
                <a:spcPct val="0"/>
              </a:spcBef>
              <a:spcAft>
                <a:spcPct val="0"/>
              </a:spcAft>
            </a:pPr>
            <a:r>
              <a:rPr lang="en-US" altLang="en-US" sz="2000" dirty="0"/>
              <a:t>4.To improve sustainability by lowering carbon footprint in industrial/commercial buildings.</a:t>
            </a:r>
          </a:p>
          <a:p>
            <a:pPr lvl="0" eaLnBrk="0" fontAlgn="base" hangingPunct="0">
              <a:spcBef>
                <a:spcPct val="0"/>
              </a:spcBef>
              <a:spcAft>
                <a:spcPct val="0"/>
              </a:spcAft>
            </a:pPr>
            <a:endParaRPr lang="en-US" altLang="en-US" sz="2000" dirty="0"/>
          </a:p>
          <a:p>
            <a:pPr lvl="0" eaLnBrk="0" fontAlgn="base" hangingPunct="0">
              <a:spcBef>
                <a:spcPct val="0"/>
              </a:spcBef>
              <a:spcAft>
                <a:spcPct val="0"/>
              </a:spcAft>
            </a:pPr>
            <a:r>
              <a:rPr lang="en-US" altLang="en-US" sz="2000" dirty="0"/>
              <a:t>5.To create a user-friendly web/app interface for real-time insights and recommendations.</a:t>
            </a:r>
          </a:p>
          <a:p>
            <a:pPr lvl="0" eaLnBrk="0" fontAlgn="base" hangingPunct="0">
              <a:spcBef>
                <a:spcPct val="0"/>
              </a:spcBef>
              <a:spcAft>
                <a:spcPct val="0"/>
              </a:spcAft>
            </a:pPr>
            <a:endParaRPr lang="en-US" altLang="en-US" sz="2000" dirty="0"/>
          </a:p>
          <a:p>
            <a:pPr lvl="0" eaLnBrk="0" fontAlgn="base" hangingPunct="0">
              <a:spcBef>
                <a:spcPct val="0"/>
              </a:spcBef>
              <a:spcAft>
                <a:spcPct val="0"/>
              </a:spcAft>
            </a:pPr>
            <a:r>
              <a:rPr lang="en-US" altLang="en-US" sz="2000" dirty="0"/>
              <a:t>6.To evaluate performance using real or simulated building datasets</a:t>
            </a:r>
          </a:p>
        </p:txBody>
      </p:sp>
      <p:cxnSp>
        <p:nvCxnSpPr>
          <p:cNvPr id="4" name="Straight Connector 3">
            <a:extLst>
              <a:ext uri="{FF2B5EF4-FFF2-40B4-BE49-F238E27FC236}">
                <a16:creationId xmlns:a16="http://schemas.microsoft.com/office/drawing/2014/main" id="{481DDD71-B3E2-9197-2F23-ADD1780F303B}"/>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0911991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ED08E-BA46-8D72-3CCB-F16B6E3D1A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E00D15-75A4-51E7-13DE-B64967254FE9}"/>
              </a:ext>
            </a:extLst>
          </p:cNvPr>
          <p:cNvSpPr>
            <a:spLocks noGrp="1"/>
          </p:cNvSpPr>
          <p:nvPr>
            <p:ph type="title"/>
          </p:nvPr>
        </p:nvSpPr>
        <p:spPr>
          <a:xfrm>
            <a:off x="670248" y="-320533"/>
            <a:ext cx="10515600" cy="1325563"/>
          </a:xfrm>
        </p:spPr>
        <p:txBody>
          <a:bodyPr/>
          <a:lstStyle/>
          <a:p>
            <a:pPr algn="ctr"/>
            <a:r>
              <a:rPr lang="en-US" b="1" dirty="0"/>
              <a:t>Literature Review</a:t>
            </a:r>
          </a:p>
        </p:txBody>
      </p:sp>
      <p:graphicFrame>
        <p:nvGraphicFramePr>
          <p:cNvPr id="7" name="Table 2">
            <a:extLst>
              <a:ext uri="{FF2B5EF4-FFF2-40B4-BE49-F238E27FC236}">
                <a16:creationId xmlns:a16="http://schemas.microsoft.com/office/drawing/2014/main" id="{DE9B875A-AEED-9105-5421-15E41555FC6D}"/>
              </a:ext>
            </a:extLst>
          </p:cNvPr>
          <p:cNvGraphicFramePr/>
          <p:nvPr>
            <p:custDataLst>
              <p:tags r:id="rId1"/>
            </p:custDataLst>
            <p:extLst>
              <p:ext uri="{D42A27DB-BD31-4B8C-83A1-F6EECF244321}">
                <p14:modId xmlns:p14="http://schemas.microsoft.com/office/powerpoint/2010/main" val="4211378053"/>
              </p:ext>
            </p:extLst>
          </p:nvPr>
        </p:nvGraphicFramePr>
        <p:xfrm>
          <a:off x="311018" y="1165972"/>
          <a:ext cx="11569963" cy="5421440"/>
        </p:xfrm>
        <a:graphic>
          <a:graphicData uri="http://schemas.openxmlformats.org/drawingml/2006/table">
            <a:tbl>
              <a:tblPr/>
              <a:tblGrid>
                <a:gridCol w="709396">
                  <a:extLst>
                    <a:ext uri="{9D8B030D-6E8A-4147-A177-3AD203B41FA5}">
                      <a16:colId xmlns:a16="http://schemas.microsoft.com/office/drawing/2014/main" val="20000"/>
                    </a:ext>
                  </a:extLst>
                </a:gridCol>
                <a:gridCol w="2000656">
                  <a:extLst>
                    <a:ext uri="{9D8B030D-6E8A-4147-A177-3AD203B41FA5}">
                      <a16:colId xmlns:a16="http://schemas.microsoft.com/office/drawing/2014/main" val="20001"/>
                    </a:ext>
                  </a:extLst>
                </a:gridCol>
                <a:gridCol w="1390450">
                  <a:extLst>
                    <a:ext uri="{9D8B030D-6E8A-4147-A177-3AD203B41FA5}">
                      <a16:colId xmlns:a16="http://schemas.microsoft.com/office/drawing/2014/main" val="20002"/>
                    </a:ext>
                  </a:extLst>
                </a:gridCol>
                <a:gridCol w="1601231">
                  <a:extLst>
                    <a:ext uri="{9D8B030D-6E8A-4147-A177-3AD203B41FA5}">
                      <a16:colId xmlns:a16="http://schemas.microsoft.com/office/drawing/2014/main" val="20003"/>
                    </a:ext>
                  </a:extLst>
                </a:gridCol>
                <a:gridCol w="1208008">
                  <a:extLst>
                    <a:ext uri="{9D8B030D-6E8A-4147-A177-3AD203B41FA5}">
                      <a16:colId xmlns:a16="http://schemas.microsoft.com/office/drawing/2014/main" val="20004"/>
                    </a:ext>
                  </a:extLst>
                </a:gridCol>
                <a:gridCol w="1590605">
                  <a:extLst>
                    <a:ext uri="{9D8B030D-6E8A-4147-A177-3AD203B41FA5}">
                      <a16:colId xmlns:a16="http://schemas.microsoft.com/office/drawing/2014/main" val="20005"/>
                    </a:ext>
                  </a:extLst>
                </a:gridCol>
                <a:gridCol w="3069617">
                  <a:extLst>
                    <a:ext uri="{9D8B030D-6E8A-4147-A177-3AD203B41FA5}">
                      <a16:colId xmlns:a16="http://schemas.microsoft.com/office/drawing/2014/main" val="20006"/>
                    </a:ext>
                  </a:extLst>
                </a:gridCol>
              </a:tblGrid>
              <a:tr h="644360">
                <a:tc>
                  <a:txBody>
                    <a:bodyPr/>
                    <a:lstStyle/>
                    <a:p>
                      <a:pPr algn="ctr">
                        <a:defRPr sz="1800"/>
                      </a:pPr>
                      <a:r>
                        <a:rPr sz="900" b="1" dirty="0"/>
                        <a:t>Sr. No.</a:t>
                      </a:r>
                    </a:p>
                  </a:txBody>
                  <a:tcPr marL="45720" marR="45720" horzOverflow="overflow">
                    <a:solidFill>
                      <a:srgbClr val="9DC3E6"/>
                    </a:solidFill>
                  </a:tcPr>
                </a:tc>
                <a:tc>
                  <a:txBody>
                    <a:bodyPr/>
                    <a:lstStyle/>
                    <a:p>
                      <a:pPr algn="ctr">
                        <a:defRPr sz="1800"/>
                      </a:pPr>
                      <a:r>
                        <a:rPr sz="900" b="1" dirty="0"/>
                        <a:t>Title of Research Paper</a:t>
                      </a:r>
                    </a:p>
                  </a:txBody>
                  <a:tcPr marL="45720" marR="45720" horzOverflow="overflow">
                    <a:solidFill>
                      <a:srgbClr val="9DC3E6"/>
                    </a:solidFill>
                  </a:tcPr>
                </a:tc>
                <a:tc>
                  <a:txBody>
                    <a:bodyPr/>
                    <a:lstStyle/>
                    <a:p>
                      <a:pPr algn="ctr">
                        <a:defRPr sz="1800"/>
                      </a:pPr>
                      <a:r>
                        <a:rPr sz="900" b="1"/>
                        <a:t>Authors</a:t>
                      </a:r>
                    </a:p>
                  </a:txBody>
                  <a:tcPr marL="45720" marR="45720" horzOverflow="overflow">
                    <a:solidFill>
                      <a:srgbClr val="9DC3E6"/>
                    </a:solidFill>
                  </a:tcPr>
                </a:tc>
                <a:tc>
                  <a:txBody>
                    <a:bodyPr/>
                    <a:lstStyle/>
                    <a:p>
                      <a:pPr algn="ctr">
                        <a:defRPr sz="1800"/>
                      </a:pPr>
                      <a:r>
                        <a:rPr sz="900" b="1" dirty="0"/>
                        <a:t>Name of Journal/Conference</a:t>
                      </a:r>
                    </a:p>
                  </a:txBody>
                  <a:tcPr marL="45720" marR="45720" horzOverflow="overflow">
                    <a:solidFill>
                      <a:srgbClr val="9DC3E6"/>
                    </a:solidFill>
                  </a:tcPr>
                </a:tc>
                <a:tc>
                  <a:txBody>
                    <a:bodyPr/>
                    <a:lstStyle/>
                    <a:p>
                      <a:pPr algn="ctr">
                        <a:defRPr sz="1800"/>
                      </a:pPr>
                      <a:r>
                        <a:rPr sz="900" b="1"/>
                        <a:t>Date of Publication (Month and Year)</a:t>
                      </a:r>
                    </a:p>
                  </a:txBody>
                  <a:tcPr marL="45720" marR="45720" horzOverflow="overflow">
                    <a:solidFill>
                      <a:srgbClr val="9DC3E6"/>
                    </a:solidFill>
                  </a:tcPr>
                </a:tc>
                <a:tc>
                  <a:txBody>
                    <a:bodyPr/>
                    <a:lstStyle/>
                    <a:p>
                      <a:pPr algn="ctr">
                        <a:defRPr sz="1800"/>
                      </a:pPr>
                      <a:r>
                        <a:rPr lang="en-US" sz="900" b="1" dirty="0"/>
                        <a:t>Methodology</a:t>
                      </a:r>
                      <a:endParaRPr sz="900" b="1" dirty="0"/>
                    </a:p>
                  </a:txBody>
                  <a:tcPr marL="45720" marR="45720" horzOverflow="overflow">
                    <a:solidFill>
                      <a:srgbClr val="9DC3E6"/>
                    </a:solidFill>
                  </a:tcPr>
                </a:tc>
                <a:tc>
                  <a:txBody>
                    <a:bodyPr/>
                    <a:lstStyle/>
                    <a:p>
                      <a:pPr algn="ctr">
                        <a:defRPr sz="1800"/>
                      </a:pPr>
                      <a:r>
                        <a:rPr lang="en-US" sz="900" b="1" dirty="0"/>
                        <a:t>Performance Measure or Results</a:t>
                      </a:r>
                      <a:endParaRPr sz="900" b="1" dirty="0"/>
                    </a:p>
                  </a:txBody>
                  <a:tcPr marL="45720" marR="45720" horzOverflow="overflow">
                    <a:solidFill>
                      <a:srgbClr val="9DC3E6"/>
                    </a:solidFill>
                  </a:tcPr>
                </a:tc>
                <a:extLst>
                  <a:ext uri="{0D108BD9-81ED-4DB2-BD59-A6C34878D82A}">
                    <a16:rowId xmlns:a16="http://schemas.microsoft.com/office/drawing/2014/main" val="10000"/>
                  </a:ext>
                </a:extLst>
              </a:tr>
              <a:tr h="644360">
                <a:tc>
                  <a:txBody>
                    <a:bodyPr/>
                    <a:lstStyle/>
                    <a:p>
                      <a:pPr algn="ctr">
                        <a:defRPr sz="1800"/>
                      </a:pPr>
                      <a:r>
                        <a:rPr sz="900"/>
                        <a:t>1</a:t>
                      </a:r>
                    </a:p>
                  </a:txBody>
                  <a:tcPr marL="45720" marR="45720" horzOverflow="overflow"/>
                </a:tc>
                <a:tc>
                  <a:txBody>
                    <a:bodyPr/>
                    <a:lstStyle/>
                    <a:p>
                      <a:pPr algn="ctr">
                        <a:defRPr sz="1800"/>
                      </a:pPr>
                      <a:r>
                        <a:rPr lang="en-US" sz="900" dirty="0"/>
                        <a:t>Machine Learning Models for Energy Efficiency in Industrial Equipment</a:t>
                      </a:r>
                      <a:endParaRPr sz="900" dirty="0"/>
                    </a:p>
                  </a:txBody>
                  <a:tcPr marL="45720" marR="45720" horzOverflow="overflow"/>
                </a:tc>
                <a:tc>
                  <a:txBody>
                    <a:bodyPr/>
                    <a:lstStyle/>
                    <a:p>
                      <a:pPr algn="ctr">
                        <a:defRPr sz="1800"/>
                      </a:pPr>
                      <a:endParaRPr sz="900" dirty="0"/>
                    </a:p>
                  </a:txBody>
                  <a:tcPr marL="45720" marR="45720" horzOverflow="overflow"/>
                </a:tc>
                <a:tc>
                  <a:txBody>
                    <a:bodyPr/>
                    <a:lstStyle/>
                    <a:p>
                      <a:pPr algn="ctr">
                        <a:defRPr sz="1800"/>
                      </a:pPr>
                      <a:endParaRPr sz="900" dirty="0"/>
                    </a:p>
                  </a:txBody>
                  <a:tcPr marL="45720" marR="45720" horzOverflow="overflow"/>
                </a:tc>
                <a:tc>
                  <a:txBody>
                    <a:bodyPr/>
                    <a:lstStyle/>
                    <a:p>
                      <a:pPr algn="ctr">
                        <a:defRPr sz="1800"/>
                      </a:pPr>
                      <a:r>
                        <a:rPr sz="900" dirty="0"/>
                        <a:t>202</a:t>
                      </a:r>
                      <a:r>
                        <a:rPr lang="en-US" sz="900" dirty="0"/>
                        <a:t>4</a:t>
                      </a:r>
                      <a:endParaRPr sz="900" dirty="0"/>
                    </a:p>
                  </a:txBody>
                  <a:tcPr marL="45720" marR="45720" horzOverflow="overflow"/>
                </a:tc>
                <a:tc>
                  <a:txBody>
                    <a:bodyPr/>
                    <a:lstStyle/>
                    <a:p>
                      <a:pPr algn="ctr">
                        <a:defRPr sz="1800"/>
                      </a:pPr>
                      <a:r>
                        <a:rPr lang="en-US" sz="900" dirty="0"/>
                        <a:t>Random Forest</a:t>
                      </a:r>
                    </a:p>
                    <a:p>
                      <a:pPr algn="ctr">
                        <a:defRPr sz="1800"/>
                      </a:pPr>
                      <a:r>
                        <a:rPr lang="en-US" sz="900" dirty="0"/>
                        <a:t>SVM (Support Vector Machine)</a:t>
                      </a:r>
                    </a:p>
                    <a:p>
                      <a:pPr algn="ctr">
                        <a:defRPr sz="1800"/>
                      </a:pPr>
                      <a:r>
                        <a:rPr lang="en-US" sz="900" dirty="0"/>
                        <a:t>Gradient Boosting</a:t>
                      </a:r>
                    </a:p>
                  </a:txBody>
                  <a:tcPr marL="45720" marR="45720" horzOverflow="overflow"/>
                </a:tc>
                <a:tc>
                  <a:txBody>
                    <a:bodyPr/>
                    <a:lstStyle/>
                    <a:p>
                      <a:pPr algn="ctr">
                        <a:defRPr sz="1800"/>
                      </a:pPr>
                      <a:r>
                        <a:rPr lang="en-US" sz="900" dirty="0"/>
                        <a:t>Random Forest achieved around 92% accuracy in predicting how efficiently a machine is operating—better than SVM or Gradient Boosting.</a:t>
                      </a:r>
                    </a:p>
                  </a:txBody>
                  <a:tcPr marL="45720" marR="45720" horzOverflow="overflow"/>
                </a:tc>
                <a:extLst>
                  <a:ext uri="{0D108BD9-81ED-4DB2-BD59-A6C34878D82A}">
                    <a16:rowId xmlns:a16="http://schemas.microsoft.com/office/drawing/2014/main" val="10001"/>
                  </a:ext>
                </a:extLst>
              </a:tr>
              <a:tr h="1371175">
                <a:tc>
                  <a:txBody>
                    <a:bodyPr/>
                    <a:lstStyle/>
                    <a:p>
                      <a:pPr algn="ctr">
                        <a:defRPr sz="1800"/>
                      </a:pPr>
                      <a:r>
                        <a:rPr sz="900"/>
                        <a:t>2</a:t>
                      </a:r>
                    </a:p>
                  </a:txBody>
                  <a:tcPr marL="45720" marR="45720" horzOverflow="overflow"/>
                </a:tc>
                <a:tc>
                  <a:txBody>
                    <a:bodyPr/>
                    <a:lstStyle/>
                    <a:p>
                      <a:pPr algn="ctr">
                        <a:lnSpc>
                          <a:spcPct val="100000"/>
                        </a:lnSpc>
                      </a:pPr>
                      <a:r>
                        <a:rPr lang="en-US" sz="900" dirty="0"/>
                        <a:t>Potential of artificial intelligence in reducing energy and carbon emissions of commercial buildings at scale</a:t>
                      </a:r>
                    </a:p>
                  </a:txBody>
                  <a:tcPr marL="45720" marR="45720" horzOverflow="overflow"/>
                </a:tc>
                <a:tc>
                  <a:txBody>
                    <a:bodyPr/>
                    <a:lstStyle/>
                    <a:p>
                      <a:pPr algn="ctr"/>
                      <a:r>
                        <a:rPr lang="en-US" sz="900" dirty="0"/>
                        <a:t>Chao Ding, Jing Ke &amp; Nan Zhou (affiliated with Lawrence Berkeley National Laboratory and others)</a:t>
                      </a:r>
                    </a:p>
                  </a:txBody>
                  <a:tcPr marL="45720" marR="45720" horzOverflow="overflow"/>
                </a:tc>
                <a:tc>
                  <a:txBody>
                    <a:bodyPr/>
                    <a:lstStyle/>
                    <a:p>
                      <a:pPr algn="ctr"/>
                      <a:r>
                        <a:rPr lang="en-US" sz="900" dirty="0"/>
                        <a:t>Nature Communications</a:t>
                      </a:r>
                    </a:p>
                  </a:txBody>
                  <a:tcPr marL="45720" marR="45720" horzOverflow="overflow"/>
                </a:tc>
                <a:tc>
                  <a:txBody>
                    <a:bodyPr/>
                    <a:lstStyle/>
                    <a:p>
                      <a:pPr algn="ctr">
                        <a:defRPr sz="1800"/>
                      </a:pPr>
                      <a:r>
                        <a:rPr sz="900"/>
                        <a:t>2024</a:t>
                      </a:r>
                    </a:p>
                  </a:txBody>
                  <a:tcPr marL="45720" marR="45720" horzOverflow="overflow"/>
                </a:tc>
                <a:tc>
                  <a:txBody>
                    <a:bodyPr/>
                    <a:lstStyle/>
                    <a:p>
                      <a:pPr algn="ctr"/>
                      <a:r>
                        <a:rPr lang="en-US" sz="900" dirty="0"/>
                        <a:t>Scenario-based modeling—six scenarios across climate zones and building types, combining AI-driven improvements in equipment, occupancy modeling, operational control, and building design; simulation using </a:t>
                      </a:r>
                      <a:r>
                        <a:rPr lang="en-US" sz="900" dirty="0" err="1"/>
                        <a:t>EnergyPlus</a:t>
                      </a:r>
                      <a:r>
                        <a:rPr lang="en-US" sz="900" dirty="0"/>
                        <a:t> baseline models</a:t>
                      </a:r>
                    </a:p>
                  </a:txBody>
                  <a:tcPr marL="45720" marR="45720" horzOverflow="overflow"/>
                </a:tc>
                <a:tc>
                  <a:txBody>
                    <a:bodyPr/>
                    <a:lstStyle/>
                    <a:p>
                      <a:r>
                        <a:rPr lang="en-US" sz="900" dirty="0"/>
                        <a:t>AI alone could reduce energy consumption and carbon emissions by approximately 8%–19% by 2050. When combined with aggressive energy policy and low‑carbon power, reductions become ~40% energy and ~90% emissions vs business‑as‑usual by 2050</a:t>
                      </a:r>
                    </a:p>
                  </a:txBody>
                  <a:tcPr marL="45720" marR="45720" horzOverflow="overflow"/>
                </a:tc>
                <a:extLst>
                  <a:ext uri="{0D108BD9-81ED-4DB2-BD59-A6C34878D82A}">
                    <a16:rowId xmlns:a16="http://schemas.microsoft.com/office/drawing/2014/main" val="10002"/>
                  </a:ext>
                </a:extLst>
              </a:tr>
              <a:tr h="1196669">
                <a:tc>
                  <a:txBody>
                    <a:bodyPr/>
                    <a:lstStyle/>
                    <a:p>
                      <a:pPr algn="ctr">
                        <a:defRPr sz="1800"/>
                      </a:pPr>
                      <a:r>
                        <a:rPr sz="900"/>
                        <a:t>3</a:t>
                      </a:r>
                    </a:p>
                  </a:txBody>
                  <a:tcPr marL="45720" marR="45720" horzOverflow="overflow"/>
                </a:tc>
                <a:tc>
                  <a:txBody>
                    <a:bodyPr/>
                    <a:lstStyle/>
                    <a:p>
                      <a:pPr algn="ctr">
                        <a:lnSpc>
                          <a:spcPct val="100000"/>
                        </a:lnSpc>
                      </a:pPr>
                      <a:r>
                        <a:rPr lang="en-US" sz="900" dirty="0"/>
                        <a:t>An Experimental Evaluation of DRL Algorithms for HVAC Control</a:t>
                      </a:r>
                    </a:p>
                  </a:txBody>
                  <a:tcPr marL="45720" marR="45720" horzOverflow="overflow"/>
                </a:tc>
                <a:tc>
                  <a:txBody>
                    <a:bodyPr/>
                    <a:lstStyle/>
                    <a:p>
                      <a:pPr algn="ctr"/>
                      <a:r>
                        <a:rPr lang="en-US" sz="900" dirty="0"/>
                        <a:t>.</a:t>
                      </a:r>
                    </a:p>
                  </a:txBody>
                  <a:tcPr marL="45720" marR="45720" horzOverflow="overflow"/>
                </a:tc>
                <a:tc>
                  <a:txBody>
                    <a:bodyPr/>
                    <a:lstStyle/>
                    <a:p>
                      <a:pPr algn="ctr"/>
                      <a:endParaRPr lang="en-US" sz="900" dirty="0"/>
                    </a:p>
                  </a:txBody>
                  <a:tcPr marL="45720" marR="45720" horzOverflow="overflow"/>
                </a:tc>
                <a:tc>
                  <a:txBody>
                    <a:bodyPr/>
                    <a:lstStyle/>
                    <a:p>
                      <a:pPr algn="ctr"/>
                      <a:r>
                        <a:rPr lang="en-US" sz="900" dirty="0"/>
                        <a:t>2024</a:t>
                      </a:r>
                    </a:p>
                  </a:txBody>
                  <a:tcPr marL="45720" marR="45720" horzOverflow="overflow"/>
                </a:tc>
                <a:tc>
                  <a:txBody>
                    <a:bodyPr/>
                    <a:lstStyle/>
                    <a:p>
                      <a:pPr algn="ctr"/>
                      <a:r>
                        <a:rPr lang="en-US" sz="900" dirty="0"/>
                        <a:t>Deep Reinforcement Learning (DRL)</a:t>
                      </a:r>
                    </a:p>
                    <a:p>
                      <a:pPr algn="ctr"/>
                      <a:r>
                        <a:rPr lang="en-US" sz="900" dirty="0"/>
                        <a:t>PPO (Proximal Policy Optimization)</a:t>
                      </a:r>
                    </a:p>
                    <a:p>
                      <a:pPr algn="ctr"/>
                      <a:r>
                        <a:rPr lang="en-US" sz="900" dirty="0"/>
                        <a:t>DQN (Deep Q-Network)</a:t>
                      </a:r>
                    </a:p>
                    <a:p>
                      <a:pPr algn="ctr"/>
                      <a:r>
                        <a:rPr lang="en-US" sz="900" dirty="0"/>
                        <a:t>A2C (Advantage Actor-Critic)</a:t>
                      </a:r>
                    </a:p>
                  </a:txBody>
                  <a:tcPr marL="45720" marR="45720" horzOverflow="overflow"/>
                </a:tc>
                <a:tc>
                  <a:txBody>
                    <a:bodyPr/>
                    <a:lstStyle/>
                    <a:p>
                      <a:r>
                        <a:rPr lang="en-US" sz="900" dirty="0"/>
                        <a:t>PPO performed best, maintaining a balance between thermal comfort and energy efficiency.</a:t>
                      </a:r>
                    </a:p>
                    <a:p>
                      <a:r>
                        <a:rPr lang="en-US" sz="900" dirty="0"/>
                        <a:t>DRL showed great potential in dynamic environments like real-time HVAC control where conditions change often.</a:t>
                      </a:r>
                    </a:p>
                    <a:p>
                      <a:endParaRPr lang="en-US" sz="900" dirty="0"/>
                    </a:p>
                  </a:txBody>
                  <a:tcPr marL="45720" marR="45720" horzOverflow="overflow"/>
                </a:tc>
                <a:extLst>
                  <a:ext uri="{0D108BD9-81ED-4DB2-BD59-A6C34878D82A}">
                    <a16:rowId xmlns:a16="http://schemas.microsoft.com/office/drawing/2014/main" val="10003"/>
                  </a:ext>
                </a:extLst>
              </a:tr>
              <a:tr h="782438">
                <a:tc>
                  <a:txBody>
                    <a:bodyPr/>
                    <a:lstStyle/>
                    <a:p>
                      <a:pPr algn="ctr">
                        <a:defRPr sz="1800"/>
                      </a:pPr>
                      <a:r>
                        <a:rPr lang="en-US" sz="900" dirty="0"/>
                        <a:t>4</a:t>
                      </a:r>
                      <a:endParaRPr sz="900" dirty="0"/>
                    </a:p>
                  </a:txBody>
                  <a:tcPr marL="45720" marR="45720" horzOverflow="overflow"/>
                </a:tc>
                <a:tc>
                  <a:txBody>
                    <a:bodyPr/>
                    <a:lstStyle/>
                    <a:p>
                      <a:pPr algn="ctr">
                        <a:lnSpc>
                          <a:spcPct val="100000"/>
                        </a:lnSpc>
                      </a:pPr>
                      <a:r>
                        <a:rPr lang="en-US" sz="900" dirty="0"/>
                        <a:t>Energy Optimization for HVAC Systems in Multi-VAV Open Offices: A Deep</a:t>
                      </a:r>
                    </a:p>
                    <a:p>
                      <a:pPr algn="ctr">
                        <a:lnSpc>
                          <a:spcPct val="100000"/>
                        </a:lnSpc>
                      </a:pPr>
                      <a:r>
                        <a:rPr lang="en-US" sz="900" dirty="0"/>
                        <a:t>Reinforcement Learning Approach</a:t>
                      </a:r>
                    </a:p>
                  </a:txBody>
                  <a:tcPr marL="45720" marR="45720" horzOverflow="overflow"/>
                </a:tc>
                <a:tc>
                  <a:txBody>
                    <a:bodyPr/>
                    <a:lstStyle/>
                    <a:p>
                      <a:pPr algn="ctr"/>
                      <a:r>
                        <a:rPr lang="en-US" sz="900" dirty="0"/>
                        <a:t>Hao Wanga, </a:t>
                      </a:r>
                      <a:r>
                        <a:rPr lang="en-US" sz="900" dirty="0" err="1"/>
                        <a:t>Xiwen</a:t>
                      </a:r>
                      <a:r>
                        <a:rPr lang="en-US" sz="900" dirty="0"/>
                        <a:t> Chena, Natan </a:t>
                      </a:r>
                      <a:r>
                        <a:rPr lang="en-US" sz="900" dirty="0" err="1"/>
                        <a:t>Vitalb</a:t>
                      </a:r>
                      <a:r>
                        <a:rPr lang="en-US" sz="900" dirty="0"/>
                        <a:t>, Edward </a:t>
                      </a:r>
                      <a:r>
                        <a:rPr lang="en-US" sz="900" dirty="0" err="1"/>
                        <a:t>Duffyb</a:t>
                      </a:r>
                      <a:r>
                        <a:rPr lang="en-US" sz="900" dirty="0"/>
                        <a:t>, Abolfazl Razia</a:t>
                      </a:r>
                    </a:p>
                  </a:txBody>
                  <a:tcPr marL="45720" marR="45720" horzOverflow="overflow"/>
                </a:tc>
                <a:tc>
                  <a:txBody>
                    <a:bodyPr/>
                    <a:lstStyle/>
                    <a:p>
                      <a:pPr algn="ctr"/>
                      <a:r>
                        <a:rPr lang="en-US" sz="900" dirty="0" err="1"/>
                        <a:t>bBMW</a:t>
                      </a:r>
                      <a:r>
                        <a:rPr lang="en-US" sz="900" dirty="0"/>
                        <a:t> Information Technology Research Center, CU-ICAR, 2 Research Dr</a:t>
                      </a:r>
                    </a:p>
                  </a:txBody>
                  <a:tcPr marL="45720" marR="45720" horzOverflow="overflow"/>
                </a:tc>
                <a:tc>
                  <a:txBody>
                    <a:bodyPr/>
                    <a:lstStyle/>
                    <a:p>
                      <a:pPr algn="ctr"/>
                      <a:r>
                        <a:rPr lang="en-US" sz="900" dirty="0"/>
                        <a:t>2023</a:t>
                      </a:r>
                    </a:p>
                  </a:txBody>
                  <a:tcPr marL="45720" marR="45720" horzOverflow="overflow"/>
                </a:tc>
                <a:tc>
                  <a:txBody>
                    <a:bodyPr/>
                    <a:lstStyle/>
                    <a:p>
                      <a:pPr algn="ctr"/>
                      <a:r>
                        <a:rPr lang="en-US" sz="900" dirty="0"/>
                        <a:t>Deep Reinforcement Learning (DQN) for HVAC energy optimization</a:t>
                      </a:r>
                    </a:p>
                  </a:txBody>
                  <a:tcPr marL="45720" marR="45720" horzOverflow="overflow"/>
                </a:tc>
                <a:tc>
                  <a:txBody>
                    <a:bodyPr/>
                    <a:lstStyle/>
                    <a:p>
                      <a:r>
                        <a:rPr lang="en-US" sz="900" dirty="0"/>
                        <a:t>37% reduction in HVAC energy, &lt;1% temperature violation, 2.5% humidity violation</a:t>
                      </a:r>
                    </a:p>
                  </a:txBody>
                  <a:tcPr marL="45720" marR="45720" horzOverflow="overflow"/>
                </a:tc>
                <a:extLst>
                  <a:ext uri="{0D108BD9-81ED-4DB2-BD59-A6C34878D82A}">
                    <a16:rowId xmlns:a16="http://schemas.microsoft.com/office/drawing/2014/main" val="3787204876"/>
                  </a:ext>
                </a:extLst>
              </a:tr>
              <a:tr h="782438">
                <a:tc>
                  <a:txBody>
                    <a:bodyPr/>
                    <a:lstStyle/>
                    <a:p>
                      <a:pPr algn="ctr">
                        <a:defRPr sz="1800"/>
                      </a:pPr>
                      <a:r>
                        <a:rPr lang="en-US" sz="900" dirty="0"/>
                        <a:t>5</a:t>
                      </a:r>
                      <a:endParaRPr sz="900" dirty="0"/>
                    </a:p>
                  </a:txBody>
                  <a:tcPr marL="45720" marR="45720" horzOverflow="overflow"/>
                </a:tc>
                <a:tc>
                  <a:txBody>
                    <a:bodyPr/>
                    <a:lstStyle/>
                    <a:p>
                      <a:pPr algn="ctr">
                        <a:lnSpc>
                          <a:spcPct val="100000"/>
                        </a:lnSpc>
                      </a:pPr>
                      <a:r>
                        <a:rPr lang="en-US" sz="900" dirty="0"/>
                        <a:t>Exploring Deep Reinforcement Learning for Holistic Smart Building Control</a:t>
                      </a:r>
                    </a:p>
                  </a:txBody>
                  <a:tcPr marL="45720" marR="45720" horzOverflow="overflow"/>
                </a:tc>
                <a:tc>
                  <a:txBody>
                    <a:bodyPr/>
                    <a:lstStyle/>
                    <a:p>
                      <a:pPr algn="ctr"/>
                      <a:r>
                        <a:rPr lang="de-DE" sz="900" dirty="0"/>
                        <a:t>Xianzhong Ding, Alberto Cerpa, Wan Du</a:t>
                      </a:r>
                      <a:endParaRPr lang="en-US" sz="900" dirty="0"/>
                    </a:p>
                  </a:txBody>
                  <a:tcPr marL="45720" marR="45720" horzOverflow="overflow"/>
                </a:tc>
                <a:tc>
                  <a:txBody>
                    <a:bodyPr/>
                    <a:lstStyle/>
                    <a:p>
                      <a:pPr algn="ctr"/>
                      <a:r>
                        <a:rPr lang="en-US" sz="900" dirty="0"/>
                        <a:t>IEEE (preprint on </a:t>
                      </a:r>
                      <a:r>
                        <a:rPr lang="en-US" sz="900" dirty="0" err="1"/>
                        <a:t>arXiv</a:t>
                      </a:r>
                      <a:r>
                        <a:rPr lang="en-US" sz="900" dirty="0"/>
                        <a:t>)</a:t>
                      </a:r>
                    </a:p>
                  </a:txBody>
                  <a:tcPr marL="45720" marR="45720" horzOverflow="overflow"/>
                </a:tc>
                <a:tc>
                  <a:txBody>
                    <a:bodyPr/>
                    <a:lstStyle/>
                    <a:p>
                      <a:pPr algn="ctr"/>
                      <a:r>
                        <a:rPr lang="en-US" sz="900" dirty="0"/>
                        <a:t>2023</a:t>
                      </a:r>
                    </a:p>
                  </a:txBody>
                  <a:tcPr marL="45720" marR="45720" horzOverflow="overflow"/>
                </a:tc>
                <a:tc>
                  <a:txBody>
                    <a:bodyPr/>
                    <a:lstStyle/>
                    <a:p>
                      <a:pPr algn="ctr"/>
                      <a:r>
                        <a:rPr lang="en-US" sz="900" dirty="0"/>
                        <a:t>Deep Reinforcement Learning (Branching Dueling Q-Network) for multi-subsystem building control</a:t>
                      </a:r>
                    </a:p>
                  </a:txBody>
                  <a:tcPr marL="45720" marR="45720" horzOverflow="overflow"/>
                </a:tc>
                <a:tc>
                  <a:txBody>
                    <a:bodyPr/>
                    <a:lstStyle/>
                    <a:p>
                      <a:r>
                        <a:rPr lang="en-US" sz="900" dirty="0"/>
                        <a:t>Achieved 14.26% energy savings vs. rule-based control and 8.1% vs. latest DRL method while maintaining comfort</a:t>
                      </a:r>
                    </a:p>
                  </a:txBody>
                  <a:tcPr marL="45720" marR="45720" horzOverflow="overflow"/>
                </a:tc>
                <a:extLst>
                  <a:ext uri="{0D108BD9-81ED-4DB2-BD59-A6C34878D82A}">
                    <a16:rowId xmlns:a16="http://schemas.microsoft.com/office/drawing/2014/main" val="155914293"/>
                  </a:ext>
                </a:extLst>
              </a:tr>
            </a:tbl>
          </a:graphicData>
        </a:graphic>
      </p:graphicFrame>
      <p:cxnSp>
        <p:nvCxnSpPr>
          <p:cNvPr id="8" name="Straight Connector 7">
            <a:extLst>
              <a:ext uri="{FF2B5EF4-FFF2-40B4-BE49-F238E27FC236}">
                <a16:creationId xmlns:a16="http://schemas.microsoft.com/office/drawing/2014/main" id="{30073123-A15C-505B-31C6-C469C5EE0E5F}"/>
              </a:ext>
            </a:extLst>
          </p:cNvPr>
          <p:cNvCxnSpPr/>
          <p:nvPr/>
        </p:nvCxnSpPr>
        <p:spPr>
          <a:xfrm>
            <a:off x="96416" y="750781"/>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430563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5C9B4-69CC-1871-56F2-FE4707E69F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4390EC-B45E-D970-BE67-AA6F1B3A5B6E}"/>
              </a:ext>
            </a:extLst>
          </p:cNvPr>
          <p:cNvSpPr>
            <a:spLocks noGrp="1"/>
          </p:cNvSpPr>
          <p:nvPr>
            <p:ph type="title"/>
          </p:nvPr>
        </p:nvSpPr>
        <p:spPr>
          <a:xfrm>
            <a:off x="736339" y="-289557"/>
            <a:ext cx="10515600" cy="1325563"/>
          </a:xfrm>
        </p:spPr>
        <p:txBody>
          <a:bodyPr/>
          <a:lstStyle/>
          <a:p>
            <a:pPr algn="ctr"/>
            <a:r>
              <a:rPr lang="en-US" b="1" dirty="0"/>
              <a:t>Literature Review</a:t>
            </a:r>
          </a:p>
        </p:txBody>
      </p:sp>
      <p:graphicFrame>
        <p:nvGraphicFramePr>
          <p:cNvPr id="3" name="Table 2">
            <a:extLst>
              <a:ext uri="{FF2B5EF4-FFF2-40B4-BE49-F238E27FC236}">
                <a16:creationId xmlns:a16="http://schemas.microsoft.com/office/drawing/2014/main" id="{C31D3528-96BE-EC36-C097-71A6EC448223}"/>
              </a:ext>
            </a:extLst>
          </p:cNvPr>
          <p:cNvGraphicFramePr/>
          <p:nvPr>
            <p:custDataLst>
              <p:tags r:id="rId1"/>
            </p:custDataLst>
            <p:extLst>
              <p:ext uri="{D42A27DB-BD31-4B8C-83A1-F6EECF244321}">
                <p14:modId xmlns:p14="http://schemas.microsoft.com/office/powerpoint/2010/main" val="3518524828"/>
              </p:ext>
            </p:extLst>
          </p:nvPr>
        </p:nvGraphicFramePr>
        <p:xfrm>
          <a:off x="539618" y="970383"/>
          <a:ext cx="10909042" cy="5514392"/>
        </p:xfrm>
        <a:graphic>
          <a:graphicData uri="http://schemas.openxmlformats.org/drawingml/2006/table">
            <a:tbl>
              <a:tblPr/>
              <a:tblGrid>
                <a:gridCol w="668873">
                  <a:extLst>
                    <a:ext uri="{9D8B030D-6E8A-4147-A177-3AD203B41FA5}">
                      <a16:colId xmlns:a16="http://schemas.microsoft.com/office/drawing/2014/main" val="20000"/>
                    </a:ext>
                  </a:extLst>
                </a:gridCol>
                <a:gridCol w="1886370">
                  <a:extLst>
                    <a:ext uri="{9D8B030D-6E8A-4147-A177-3AD203B41FA5}">
                      <a16:colId xmlns:a16="http://schemas.microsoft.com/office/drawing/2014/main" val="20001"/>
                    </a:ext>
                  </a:extLst>
                </a:gridCol>
                <a:gridCol w="1311022">
                  <a:extLst>
                    <a:ext uri="{9D8B030D-6E8A-4147-A177-3AD203B41FA5}">
                      <a16:colId xmlns:a16="http://schemas.microsoft.com/office/drawing/2014/main" val="20002"/>
                    </a:ext>
                  </a:extLst>
                </a:gridCol>
                <a:gridCol w="1509763">
                  <a:extLst>
                    <a:ext uri="{9D8B030D-6E8A-4147-A177-3AD203B41FA5}">
                      <a16:colId xmlns:a16="http://schemas.microsoft.com/office/drawing/2014/main" val="20003"/>
                    </a:ext>
                  </a:extLst>
                </a:gridCol>
                <a:gridCol w="1139003">
                  <a:extLst>
                    <a:ext uri="{9D8B030D-6E8A-4147-A177-3AD203B41FA5}">
                      <a16:colId xmlns:a16="http://schemas.microsoft.com/office/drawing/2014/main" val="20004"/>
                    </a:ext>
                  </a:extLst>
                </a:gridCol>
                <a:gridCol w="1499743">
                  <a:extLst>
                    <a:ext uri="{9D8B030D-6E8A-4147-A177-3AD203B41FA5}">
                      <a16:colId xmlns:a16="http://schemas.microsoft.com/office/drawing/2014/main" val="20005"/>
                    </a:ext>
                  </a:extLst>
                </a:gridCol>
                <a:gridCol w="2894268">
                  <a:extLst>
                    <a:ext uri="{9D8B030D-6E8A-4147-A177-3AD203B41FA5}">
                      <a16:colId xmlns:a16="http://schemas.microsoft.com/office/drawing/2014/main" val="20006"/>
                    </a:ext>
                  </a:extLst>
                </a:gridCol>
              </a:tblGrid>
              <a:tr h="572344">
                <a:tc>
                  <a:txBody>
                    <a:bodyPr/>
                    <a:lstStyle/>
                    <a:p>
                      <a:pPr algn="ctr">
                        <a:defRPr sz="1800"/>
                      </a:pPr>
                      <a:r>
                        <a:rPr sz="900" b="1" dirty="0"/>
                        <a:t>Sr. No.</a:t>
                      </a:r>
                    </a:p>
                  </a:txBody>
                  <a:tcPr marL="45720" marR="45720" horzOverflow="overflow">
                    <a:solidFill>
                      <a:srgbClr val="9DC3E6"/>
                    </a:solidFill>
                  </a:tcPr>
                </a:tc>
                <a:tc>
                  <a:txBody>
                    <a:bodyPr/>
                    <a:lstStyle/>
                    <a:p>
                      <a:pPr algn="ctr">
                        <a:defRPr sz="1800"/>
                      </a:pPr>
                      <a:r>
                        <a:rPr sz="900" b="1" dirty="0"/>
                        <a:t>Title of Research Paper</a:t>
                      </a:r>
                    </a:p>
                  </a:txBody>
                  <a:tcPr marL="45720" marR="45720" horzOverflow="overflow">
                    <a:solidFill>
                      <a:srgbClr val="9DC3E6"/>
                    </a:solidFill>
                  </a:tcPr>
                </a:tc>
                <a:tc>
                  <a:txBody>
                    <a:bodyPr/>
                    <a:lstStyle/>
                    <a:p>
                      <a:pPr algn="ctr">
                        <a:defRPr sz="1800"/>
                      </a:pPr>
                      <a:r>
                        <a:rPr sz="900" b="1"/>
                        <a:t>Authors</a:t>
                      </a:r>
                    </a:p>
                  </a:txBody>
                  <a:tcPr marL="45720" marR="45720" horzOverflow="overflow">
                    <a:solidFill>
                      <a:srgbClr val="9DC3E6"/>
                    </a:solidFill>
                  </a:tcPr>
                </a:tc>
                <a:tc>
                  <a:txBody>
                    <a:bodyPr/>
                    <a:lstStyle/>
                    <a:p>
                      <a:pPr algn="ctr">
                        <a:defRPr sz="1800"/>
                      </a:pPr>
                      <a:r>
                        <a:rPr sz="900" b="1" dirty="0"/>
                        <a:t>Name of Journal/Conference</a:t>
                      </a:r>
                    </a:p>
                  </a:txBody>
                  <a:tcPr marL="45720" marR="45720" horzOverflow="overflow">
                    <a:solidFill>
                      <a:srgbClr val="9DC3E6"/>
                    </a:solidFill>
                  </a:tcPr>
                </a:tc>
                <a:tc>
                  <a:txBody>
                    <a:bodyPr/>
                    <a:lstStyle/>
                    <a:p>
                      <a:pPr algn="ctr">
                        <a:defRPr sz="1800"/>
                      </a:pPr>
                      <a:r>
                        <a:rPr sz="900" b="1"/>
                        <a:t>Date of Publication (Month and Year)</a:t>
                      </a:r>
                    </a:p>
                  </a:txBody>
                  <a:tcPr marL="45720" marR="45720" horzOverflow="overflow">
                    <a:solidFill>
                      <a:srgbClr val="9DC3E6"/>
                    </a:solidFill>
                  </a:tcPr>
                </a:tc>
                <a:tc>
                  <a:txBody>
                    <a:bodyPr/>
                    <a:lstStyle/>
                    <a:p>
                      <a:pPr algn="ctr">
                        <a:defRPr sz="1800"/>
                      </a:pPr>
                      <a:r>
                        <a:rPr lang="en-US" sz="900" b="1" dirty="0"/>
                        <a:t>Methodology</a:t>
                      </a:r>
                      <a:endParaRPr sz="900" b="1" dirty="0"/>
                    </a:p>
                  </a:txBody>
                  <a:tcPr marL="45720" marR="45720" horzOverflow="overflow">
                    <a:solidFill>
                      <a:srgbClr val="9DC3E6"/>
                    </a:solidFill>
                  </a:tcPr>
                </a:tc>
                <a:tc>
                  <a:txBody>
                    <a:bodyPr/>
                    <a:lstStyle/>
                    <a:p>
                      <a:pPr algn="ctr">
                        <a:defRPr sz="1800"/>
                      </a:pPr>
                      <a:r>
                        <a:rPr lang="en-US" sz="900" b="1" dirty="0"/>
                        <a:t>Performance Measure or Results</a:t>
                      </a:r>
                      <a:endParaRPr sz="900" b="1" dirty="0"/>
                    </a:p>
                  </a:txBody>
                  <a:tcPr marL="45720" marR="45720" horzOverflow="overflow">
                    <a:solidFill>
                      <a:srgbClr val="9DC3E6"/>
                    </a:solidFill>
                  </a:tcPr>
                </a:tc>
                <a:extLst>
                  <a:ext uri="{0D108BD9-81ED-4DB2-BD59-A6C34878D82A}">
                    <a16:rowId xmlns:a16="http://schemas.microsoft.com/office/drawing/2014/main" val="10000"/>
                  </a:ext>
                </a:extLst>
              </a:tr>
              <a:tr h="1676150">
                <a:tc>
                  <a:txBody>
                    <a:bodyPr/>
                    <a:lstStyle/>
                    <a:p>
                      <a:pPr algn="ctr">
                        <a:defRPr sz="1800"/>
                      </a:pPr>
                      <a:r>
                        <a:rPr lang="en-US" sz="900" dirty="0"/>
                        <a:t>6</a:t>
                      </a:r>
                      <a:endParaRPr sz="900" dirty="0"/>
                    </a:p>
                  </a:txBody>
                  <a:tcPr marL="45720" marR="45720" horzOverflow="overflow"/>
                </a:tc>
                <a:tc>
                  <a:txBody>
                    <a:bodyPr/>
                    <a:lstStyle/>
                    <a:p>
                      <a:pPr algn="ctr">
                        <a:defRPr sz="1800"/>
                      </a:pPr>
                      <a:r>
                        <a:rPr lang="en-US" sz="900" dirty="0"/>
                        <a:t>Advancing insights into building electrical energy consumption: a comprehensive review of conventional and artificial intelligence methods</a:t>
                      </a:r>
                      <a:endParaRPr sz="900" dirty="0"/>
                    </a:p>
                  </a:txBody>
                  <a:tcPr marL="45720" marR="45720" horzOverflow="overflow"/>
                </a:tc>
                <a:tc>
                  <a:txBody>
                    <a:bodyPr/>
                    <a:lstStyle/>
                    <a:p>
                      <a:pPr algn="ctr">
                        <a:defRPr sz="1800"/>
                      </a:pPr>
                      <a:r>
                        <a:rPr lang="en-IN" sz="900" dirty="0"/>
                        <a:t>Mohammad Aliff Shakir; </a:t>
                      </a:r>
                      <a:r>
                        <a:rPr lang="en-IN" sz="900" dirty="0" err="1"/>
                        <a:t>Arivindha</a:t>
                      </a:r>
                      <a:r>
                        <a:rPr lang="en-IN" sz="900" dirty="0"/>
                        <a:t> Rao Appana; Waqas Khalid; Segar Rajamanickam PJK; </a:t>
                      </a:r>
                      <a:r>
                        <a:rPr lang="en-IN" sz="900" dirty="0" err="1"/>
                        <a:t>Mardiana</a:t>
                      </a:r>
                      <a:r>
                        <a:rPr lang="en-IN" sz="900" dirty="0"/>
                        <a:t> </a:t>
                      </a:r>
                      <a:r>
                        <a:rPr lang="en-IN" sz="900" dirty="0" err="1"/>
                        <a:t>Idayu</a:t>
                      </a:r>
                      <a:r>
                        <a:rPr lang="en-IN" sz="900" dirty="0"/>
                        <a:t> Ahmad</a:t>
                      </a:r>
                      <a:endParaRPr sz="900" dirty="0"/>
                    </a:p>
                  </a:txBody>
                  <a:tcPr marL="45720" marR="45720" horzOverflow="overflow"/>
                </a:tc>
                <a:tc>
                  <a:txBody>
                    <a:bodyPr/>
                    <a:lstStyle/>
                    <a:p>
                      <a:pPr algn="ctr">
                        <a:defRPr sz="1800"/>
                      </a:pPr>
                      <a:r>
                        <a:rPr lang="en-US" sz="900" dirty="0"/>
                        <a:t>Advances in Building Energy Research (Taylor &amp; Francis)</a:t>
                      </a:r>
                      <a:endParaRPr sz="900" dirty="0"/>
                    </a:p>
                  </a:txBody>
                  <a:tcPr marL="45720" marR="45720" horzOverflow="overflow"/>
                </a:tc>
                <a:tc>
                  <a:txBody>
                    <a:bodyPr/>
                    <a:lstStyle/>
                    <a:p>
                      <a:pPr algn="ctr">
                        <a:defRPr sz="1800"/>
                      </a:pPr>
                      <a:r>
                        <a:rPr sz="900" dirty="0"/>
                        <a:t>202</a:t>
                      </a:r>
                      <a:r>
                        <a:rPr lang="en-US" sz="900" dirty="0"/>
                        <a:t>5</a:t>
                      </a:r>
                      <a:endParaRPr sz="900" dirty="0"/>
                    </a:p>
                  </a:txBody>
                  <a:tcPr marL="45720" marR="45720" horzOverflow="overflow"/>
                </a:tc>
                <a:tc>
                  <a:txBody>
                    <a:bodyPr/>
                    <a:lstStyle/>
                    <a:p>
                      <a:pPr algn="ctr">
                        <a:defRPr sz="1800"/>
                      </a:pPr>
                      <a:r>
                        <a:rPr lang="en-US" sz="900" dirty="0"/>
                        <a:t>Comprehensive literature review synthesizing conventional statistical and machine‑learning techniques, forecasting, anomaly detection, demand modeling, AI/ML algorithms across multiple building applications</a:t>
                      </a:r>
                    </a:p>
                  </a:txBody>
                  <a:tcPr marL="45720" marR="45720" horzOverflow="overflow"/>
                </a:tc>
                <a:tc>
                  <a:txBody>
                    <a:bodyPr/>
                    <a:lstStyle/>
                    <a:p>
                      <a:pPr algn="ctr">
                        <a:defRPr sz="1800"/>
                      </a:pPr>
                      <a:r>
                        <a:rPr lang="en-US" sz="900" dirty="0"/>
                        <a:t>Summarizes comparative performance of AI vs conventional methods, highlighting improved forecasting accuracy, energy savings, and anomaly detection benefits, though precise numbers vary by context</a:t>
                      </a:r>
                    </a:p>
                  </a:txBody>
                  <a:tcPr marL="45720" marR="45720" horzOverflow="overflow"/>
                </a:tc>
                <a:extLst>
                  <a:ext uri="{0D108BD9-81ED-4DB2-BD59-A6C34878D82A}">
                    <a16:rowId xmlns:a16="http://schemas.microsoft.com/office/drawing/2014/main" val="10001"/>
                  </a:ext>
                </a:extLst>
              </a:tr>
              <a:tr h="1467103">
                <a:tc>
                  <a:txBody>
                    <a:bodyPr/>
                    <a:lstStyle/>
                    <a:p>
                      <a:pPr algn="ctr">
                        <a:defRPr sz="1800"/>
                      </a:pPr>
                      <a:r>
                        <a:rPr lang="en-US" sz="900" dirty="0"/>
                        <a:t>7</a:t>
                      </a:r>
                      <a:endParaRPr sz="900" dirty="0"/>
                    </a:p>
                  </a:txBody>
                  <a:tcPr marL="45720" marR="45720" horzOverflow="overflow"/>
                </a:tc>
                <a:tc>
                  <a:txBody>
                    <a:bodyPr/>
                    <a:lstStyle/>
                    <a:p>
                      <a:pPr algn="ctr">
                        <a:defRPr sz="1800"/>
                      </a:pPr>
                      <a:r>
                        <a:rPr lang="en-US" sz="900" dirty="0"/>
                        <a:t>The Role of Artificial Intelligence in Optimizing Building Energy Consumption</a:t>
                      </a:r>
                      <a:endParaRPr sz="900" dirty="0"/>
                    </a:p>
                  </a:txBody>
                  <a:tcPr marL="45720" marR="45720" horzOverflow="overflow"/>
                </a:tc>
                <a:tc>
                  <a:txBody>
                    <a:bodyPr/>
                    <a:lstStyle/>
                    <a:p>
                      <a:pPr algn="ctr">
                        <a:defRPr sz="1800"/>
                      </a:pPr>
                      <a:r>
                        <a:rPr lang="en-IN" sz="900" dirty="0"/>
                        <a:t>Mohammad Khani Dehnavi; Morteza Khani </a:t>
                      </a:r>
                      <a:r>
                        <a:rPr lang="en-IN" sz="900" dirty="0" err="1"/>
                        <a:t>Dehnoi</a:t>
                      </a:r>
                      <a:r>
                        <a:rPr lang="en-IN" sz="900" dirty="0"/>
                        <a:t>; Hamid Ashrafi Amiri</a:t>
                      </a:r>
                      <a:endParaRPr sz="900" dirty="0"/>
                    </a:p>
                  </a:txBody>
                  <a:tcPr marL="45720" marR="45720" horzOverflow="overflow"/>
                </a:tc>
                <a:tc>
                  <a:txBody>
                    <a:bodyPr/>
                    <a:lstStyle/>
                    <a:p>
                      <a:pPr algn="ctr">
                        <a:defRPr sz="1800"/>
                      </a:pPr>
                      <a:r>
                        <a:rPr lang="en-US" sz="900" dirty="0"/>
                        <a:t>Presented at the 8th International Conference on Science, Engineering and Role of Technology in new Businesses, Barcelona</a:t>
                      </a:r>
                      <a:endParaRPr sz="900" dirty="0"/>
                    </a:p>
                  </a:txBody>
                  <a:tcPr marL="45720" marR="45720" horzOverflow="overflow"/>
                </a:tc>
                <a:tc>
                  <a:txBody>
                    <a:bodyPr/>
                    <a:lstStyle/>
                    <a:p>
                      <a:pPr algn="ctr">
                        <a:defRPr sz="1800"/>
                      </a:pPr>
                      <a:r>
                        <a:rPr sz="900" dirty="0"/>
                        <a:t>202</a:t>
                      </a:r>
                      <a:r>
                        <a:rPr lang="en-US" sz="900" dirty="0"/>
                        <a:t>5</a:t>
                      </a:r>
                      <a:endParaRPr sz="900" dirty="0"/>
                    </a:p>
                  </a:txBody>
                  <a:tcPr marL="45720" marR="45720" horzOverflow="overflow"/>
                </a:tc>
                <a:tc>
                  <a:txBody>
                    <a:bodyPr/>
                    <a:lstStyle/>
                    <a:p>
                      <a:pPr algn="ctr">
                        <a:defRPr sz="1800"/>
                      </a:pPr>
                      <a:r>
                        <a:rPr lang="en-US" sz="900" dirty="0"/>
                        <a:t>Theoretical and conceptual discussion of supervised, unsupervised, and reinforcement learning methods applied within Energy Management Systems, using IoT‑sensor data for real‑time adjustment</a:t>
                      </a:r>
                    </a:p>
                  </a:txBody>
                  <a:tcPr marL="45720" marR="45720" horzOverflow="overflow"/>
                </a:tc>
                <a:tc>
                  <a:txBody>
                    <a:bodyPr/>
                    <a:lstStyle/>
                    <a:p>
                      <a:pPr algn="ctr">
                        <a:defRPr sz="1800"/>
                      </a:pPr>
                      <a:r>
                        <a:rPr lang="en-US" sz="900" dirty="0"/>
                        <a:t>Claims AI-based EMS can reduce energy waste, operating costs, and carbon footprint, but numerical performance metrics are not given in the public abstract</a:t>
                      </a:r>
                    </a:p>
                  </a:txBody>
                  <a:tcPr marL="45720" marR="45720" horzOverflow="overflow"/>
                </a:tc>
                <a:extLst>
                  <a:ext uri="{0D108BD9-81ED-4DB2-BD59-A6C34878D82A}">
                    <a16:rowId xmlns:a16="http://schemas.microsoft.com/office/drawing/2014/main" val="10002"/>
                  </a:ext>
                </a:extLst>
              </a:tr>
              <a:tr h="1798795">
                <a:tc>
                  <a:txBody>
                    <a:bodyPr/>
                    <a:lstStyle/>
                    <a:p>
                      <a:pPr algn="ctr">
                        <a:defRPr sz="1800"/>
                      </a:pPr>
                      <a:r>
                        <a:rPr lang="en-US" sz="900" dirty="0"/>
                        <a:t>8</a:t>
                      </a:r>
                      <a:endParaRPr sz="900" dirty="0"/>
                    </a:p>
                  </a:txBody>
                  <a:tcPr marL="45720" marR="45720"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Interpretable Machine Learning for Building Energy Management</a:t>
                      </a:r>
                    </a:p>
                    <a:p>
                      <a:pPr algn="ctr">
                        <a:lnSpc>
                          <a:spcPct val="100000"/>
                        </a:lnSpc>
                      </a:pPr>
                      <a:endParaRPr lang="en-US" sz="900" dirty="0"/>
                    </a:p>
                  </a:txBody>
                  <a:tcPr marL="45720" marR="45720" horzOverflow="overflow"/>
                </a:tc>
                <a:tc>
                  <a:txBody>
                    <a:bodyPr/>
                    <a:lstStyle/>
                    <a:p>
                      <a:pPr algn="ctr"/>
                      <a:endParaRPr lang="en-US" sz="900" dirty="0"/>
                    </a:p>
                  </a:txBody>
                  <a:tcPr marL="45720" marR="45720" horzOverflow="overflow"/>
                </a:tc>
                <a:tc>
                  <a:txBody>
                    <a:bodyPr/>
                    <a:lstStyle/>
                    <a:p>
                      <a:pPr algn="ctr"/>
                      <a:endParaRPr lang="en-US" sz="900" dirty="0"/>
                    </a:p>
                  </a:txBody>
                  <a:tcPr marL="45720" marR="45720"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a:t>2023</a:t>
                      </a:r>
                    </a:p>
                    <a:p>
                      <a:pPr algn="ctr"/>
                      <a:endParaRPr lang="en-US" sz="900" dirty="0"/>
                    </a:p>
                  </a:txBody>
                  <a:tcPr marL="45720" marR="45720" horzOverflow="overflow"/>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900" dirty="0" err="1"/>
                        <a:t>XGBoost</a:t>
                      </a:r>
                      <a:r>
                        <a:rPr lang="en-US" sz="900" dirty="0"/>
                        <a:t>-A powerful machine learning method that uses many small decision trees working together to make high accurate predictions</a:t>
                      </a:r>
                    </a:p>
                    <a:p>
                      <a:pPr algn="ctr"/>
                      <a:endParaRPr lang="en-US" sz="900" dirty="0"/>
                    </a:p>
                  </a:txBody>
                  <a:tcPr marL="45720" marR="45720" horzOverflow="overflow"/>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The paper shows that the </a:t>
                      </a:r>
                      <a:r>
                        <a:rPr lang="en-US" sz="900" b="1" dirty="0"/>
                        <a:t>RAID model</a:t>
                      </a:r>
                      <a:r>
                        <a:rPr lang="en-US" sz="900" dirty="0"/>
                        <a:t> (</a:t>
                      </a:r>
                      <a:r>
                        <a:rPr lang="en-US" sz="900" dirty="0" err="1"/>
                        <a:t>MLPRegressor</a:t>
                      </a:r>
                      <a:r>
                        <a:rPr lang="en-US" sz="900" dirty="0"/>
                        <a:t> + SHAP) predicted building energy with </a:t>
                      </a:r>
                      <a:r>
                        <a:rPr lang="en-US" sz="900" b="1" dirty="0"/>
                        <a:t>12–15% MAPE</a:t>
                      </a:r>
                      <a:r>
                        <a:rPr lang="en-US" sz="900" dirty="0"/>
                        <a:t> on real office buildings, where </a:t>
                      </a:r>
                      <a:r>
                        <a:rPr lang="en-US" sz="900" b="1" dirty="0"/>
                        <a:t>previous-day peak load</a:t>
                      </a:r>
                      <a:r>
                        <a:rPr lang="en-US" sz="900" dirty="0"/>
                        <a:t> and </a:t>
                      </a:r>
                      <a:r>
                        <a:rPr lang="en-US" sz="900" b="1" dirty="0"/>
                        <a:t>temperature</a:t>
                      </a:r>
                      <a:r>
                        <a:rPr lang="en-US" sz="900" dirty="0"/>
                        <a:t> were the most influential factors.</a:t>
                      </a:r>
                    </a:p>
                    <a:p>
                      <a:endParaRPr lang="en-US" sz="900" dirty="0"/>
                    </a:p>
                  </a:txBody>
                  <a:tcPr marL="45720" marR="45720" horzOverflow="overflow"/>
                </a:tc>
                <a:extLst>
                  <a:ext uri="{0D108BD9-81ED-4DB2-BD59-A6C34878D82A}">
                    <a16:rowId xmlns:a16="http://schemas.microsoft.com/office/drawing/2014/main" val="10003"/>
                  </a:ext>
                </a:extLst>
              </a:tr>
            </a:tbl>
          </a:graphicData>
        </a:graphic>
      </p:graphicFrame>
      <p:cxnSp>
        <p:nvCxnSpPr>
          <p:cNvPr id="4" name="Straight Connector 3">
            <a:extLst>
              <a:ext uri="{FF2B5EF4-FFF2-40B4-BE49-F238E27FC236}">
                <a16:creationId xmlns:a16="http://schemas.microsoft.com/office/drawing/2014/main" id="{5EDD4D3E-33CB-7DEF-F902-1AEAC244C0EC}"/>
              </a:ext>
            </a:extLst>
          </p:cNvPr>
          <p:cNvCxnSpPr/>
          <p:nvPr/>
        </p:nvCxnSpPr>
        <p:spPr>
          <a:xfrm>
            <a:off x="0" y="657475"/>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863983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A6DAD90-89E1-D4F0-5DC5-804EF1BA27AE}"/>
              </a:ext>
            </a:extLst>
          </p:cNvPr>
          <p:cNvSpPr txBox="1"/>
          <p:nvPr/>
        </p:nvSpPr>
        <p:spPr>
          <a:xfrm flipH="1">
            <a:off x="3312369" y="93307"/>
            <a:ext cx="6428792" cy="1446550"/>
          </a:xfrm>
          <a:prstGeom prst="rect">
            <a:avLst/>
          </a:prstGeom>
          <a:noFill/>
        </p:spPr>
        <p:txBody>
          <a:bodyPr wrap="square" rtlCol="0">
            <a:spAutoFit/>
          </a:bodyPr>
          <a:lstStyle/>
          <a:p>
            <a:r>
              <a:rPr lang="en-US" sz="4400" dirty="0"/>
              <a:t>Tools/Technologies Used</a:t>
            </a:r>
            <a:br>
              <a:rPr lang="en-US" sz="4400" dirty="0"/>
            </a:br>
            <a:endParaRPr lang="en-IN" sz="4400" dirty="0"/>
          </a:p>
        </p:txBody>
      </p:sp>
      <p:sp>
        <p:nvSpPr>
          <p:cNvPr id="5" name="TextBox 4">
            <a:extLst>
              <a:ext uri="{FF2B5EF4-FFF2-40B4-BE49-F238E27FC236}">
                <a16:creationId xmlns:a16="http://schemas.microsoft.com/office/drawing/2014/main" id="{CB256A08-5892-5E96-E05F-9819C66DB88F}"/>
              </a:ext>
            </a:extLst>
          </p:cNvPr>
          <p:cNvSpPr txBox="1"/>
          <p:nvPr/>
        </p:nvSpPr>
        <p:spPr>
          <a:xfrm>
            <a:off x="373224" y="1922412"/>
            <a:ext cx="10067730" cy="3416320"/>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Python</a:t>
            </a:r>
            <a:r>
              <a:rPr kumimoji="0" lang="en-US" altLang="en-US" sz="1800" b="0" i="0" u="none" strike="noStrike" cap="none" normalizeH="0" baseline="0" dirty="0">
                <a:ln>
                  <a:noFill/>
                </a:ln>
                <a:solidFill>
                  <a:schemeClr val="tx1"/>
                </a:solidFill>
                <a:effectLst/>
                <a:latin typeface="Arial" panose="020B0604020202020204" pitchFamily="34" charset="0"/>
              </a:rPr>
              <a:t> → for coding and data handling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Pandas &amp; NumPy</a:t>
            </a:r>
            <a:r>
              <a:rPr kumimoji="0" lang="en-US" altLang="en-US" sz="1800" b="0" i="0" u="none" strike="noStrike" cap="none" normalizeH="0" baseline="0" dirty="0">
                <a:ln>
                  <a:noFill/>
                </a:ln>
                <a:solidFill>
                  <a:schemeClr val="tx1"/>
                </a:solidFill>
                <a:effectLst/>
                <a:latin typeface="Arial" panose="020B0604020202020204" pitchFamily="34" charset="0"/>
              </a:rPr>
              <a:t> → for working with the dataset</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Matplotlib</a:t>
            </a:r>
            <a:r>
              <a:rPr kumimoji="0" lang="en-US" altLang="en-US" sz="1800" b="0" i="0" u="none" strike="noStrike" cap="none" normalizeH="0" baseline="0" dirty="0">
                <a:ln>
                  <a:noFill/>
                </a:ln>
                <a:solidFill>
                  <a:schemeClr val="tx1"/>
                </a:solidFill>
                <a:effectLst/>
                <a:latin typeface="Arial" panose="020B0604020202020204" pitchFamily="34" charset="0"/>
              </a:rPr>
              <a:t> → for visualization and checking data patterns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Scikit-learn (</a:t>
            </a:r>
            <a:r>
              <a:rPr kumimoji="0" lang="en-US" altLang="en-US" sz="1800" b="1" i="0" u="none" strike="noStrike" cap="none" normalizeH="0" baseline="0" dirty="0" err="1">
                <a:ln>
                  <a:noFill/>
                </a:ln>
                <a:solidFill>
                  <a:schemeClr val="tx1"/>
                </a:solidFill>
                <a:effectLst/>
                <a:latin typeface="Arial" panose="020B0604020202020204" pitchFamily="34" charset="0"/>
              </a:rPr>
              <a:t>MinMaxScaler</a:t>
            </a:r>
            <a:r>
              <a:rPr kumimoji="0" lang="en-US" altLang="en-US" sz="1800" b="1" i="0"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 for scaling sensor values before training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TensorFlow / </a:t>
            </a:r>
            <a:r>
              <a:rPr kumimoji="0" lang="en-US" altLang="en-US" sz="1800" b="1" i="0" u="none" strike="noStrike" cap="none" normalizeH="0" baseline="0" dirty="0" err="1">
                <a:ln>
                  <a:noFill/>
                </a:ln>
                <a:solidFill>
                  <a:schemeClr val="tx1"/>
                </a:solidFill>
                <a:effectLst/>
                <a:latin typeface="Arial" panose="020B0604020202020204" pitchFamily="34" charset="0"/>
              </a:rPr>
              <a:t>Keras</a:t>
            </a:r>
            <a:r>
              <a:rPr kumimoji="0" lang="en-US" altLang="en-US" sz="1800" b="0" i="0" u="none" strike="noStrike" cap="none" normalizeH="0" baseline="0" dirty="0">
                <a:ln>
                  <a:noFill/>
                </a:ln>
                <a:solidFill>
                  <a:schemeClr val="tx1"/>
                </a:solidFill>
                <a:effectLst/>
                <a:latin typeface="Arial" panose="020B0604020202020204" pitchFamily="34" charset="0"/>
              </a:rPr>
              <a:t> → for building and training the </a:t>
            </a:r>
            <a:r>
              <a:rPr kumimoji="0" lang="en-US" altLang="en-US" sz="1800" b="1" i="0" u="none" strike="noStrike" cap="none" normalizeH="0" baseline="0" dirty="0">
                <a:ln>
                  <a:noFill/>
                </a:ln>
                <a:solidFill>
                  <a:schemeClr val="tx1"/>
                </a:solidFill>
                <a:effectLst/>
                <a:latin typeface="Arial" panose="020B0604020202020204" pitchFamily="34" charset="0"/>
              </a:rPr>
              <a:t>LSTM deep learning model</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lang="en-US" altLang="en-US" sz="1800" b="1" dirty="0">
                <a:latin typeface="Arial" panose="020B0604020202020204" pitchFamily="34" charset="0"/>
              </a:rPr>
              <a:t>ROBOD</a:t>
            </a:r>
            <a:r>
              <a:rPr kumimoji="0" lang="en-US" altLang="en-US" sz="1800" b="1" i="0" u="none" strike="noStrike" cap="none" normalizeH="0" baseline="0" dirty="0">
                <a:ln>
                  <a:noFill/>
                </a:ln>
                <a:solidFill>
                  <a:schemeClr val="tx1"/>
                </a:solidFill>
                <a:effectLst/>
                <a:latin typeface="Arial" panose="020B0604020202020204" pitchFamily="34" charset="0"/>
              </a:rPr>
              <a:t> dataset</a:t>
            </a:r>
            <a:r>
              <a:rPr kumimoji="0" lang="en-US" altLang="en-US" sz="1800" b="0" i="0" u="none" strike="noStrike" cap="none" normalizeH="0" baseline="0" dirty="0">
                <a:ln>
                  <a:noFill/>
                </a:ln>
                <a:solidFill>
                  <a:schemeClr val="tx1"/>
                </a:solidFill>
                <a:effectLst/>
                <a:latin typeface="Arial" panose="020B0604020202020204" pitchFamily="34" charset="0"/>
              </a:rPr>
              <a:t> → synthetic building data (temperature, humidity, occupancy, outdoor weather, fan state) to make .csv file.</a:t>
            </a:r>
          </a:p>
        </p:txBody>
      </p:sp>
      <p:cxnSp>
        <p:nvCxnSpPr>
          <p:cNvPr id="6" name="Straight Connector 5">
            <a:extLst>
              <a:ext uri="{FF2B5EF4-FFF2-40B4-BE49-F238E27FC236}">
                <a16:creationId xmlns:a16="http://schemas.microsoft.com/office/drawing/2014/main" id="{48EC90FC-87CE-4A5B-C409-D7448D839C9D}"/>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083197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343F4-5DDE-1FC0-74E2-CFEBF3E74B5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F2C743D-F595-51FC-2793-429E45105DD0}"/>
              </a:ext>
            </a:extLst>
          </p:cNvPr>
          <p:cNvSpPr txBox="1"/>
          <p:nvPr/>
        </p:nvSpPr>
        <p:spPr>
          <a:xfrm flipH="1">
            <a:off x="3340361" y="-74644"/>
            <a:ext cx="6428792" cy="769441"/>
          </a:xfrm>
          <a:prstGeom prst="rect">
            <a:avLst/>
          </a:prstGeom>
          <a:noFill/>
        </p:spPr>
        <p:txBody>
          <a:bodyPr wrap="square" rtlCol="0">
            <a:spAutoFit/>
          </a:bodyPr>
          <a:lstStyle/>
          <a:p>
            <a:r>
              <a:rPr lang="en-US" sz="4400" dirty="0"/>
              <a:t>Proposed Methodology</a:t>
            </a:r>
            <a:endParaRPr lang="en-IN" sz="4400" dirty="0"/>
          </a:p>
        </p:txBody>
      </p:sp>
      <p:sp>
        <p:nvSpPr>
          <p:cNvPr id="5" name="TextBox 4">
            <a:extLst>
              <a:ext uri="{FF2B5EF4-FFF2-40B4-BE49-F238E27FC236}">
                <a16:creationId xmlns:a16="http://schemas.microsoft.com/office/drawing/2014/main" id="{E93C54A6-EC9C-6FEA-BE84-862C44BB91D4}"/>
              </a:ext>
            </a:extLst>
          </p:cNvPr>
          <p:cNvSpPr txBox="1"/>
          <p:nvPr/>
        </p:nvSpPr>
        <p:spPr>
          <a:xfrm>
            <a:off x="163285" y="816094"/>
            <a:ext cx="11865429" cy="6186309"/>
          </a:xfrm>
          <a:prstGeom prst="rect">
            <a:avLst/>
          </a:prstGeom>
          <a:noFill/>
        </p:spPr>
        <p:txBody>
          <a:bodyPr wrap="square">
            <a:spAutoFit/>
          </a:bodyPr>
          <a:lstStyle/>
          <a:p>
            <a:pPr marL="285750" indent="-285750">
              <a:buFont typeface="Arial" panose="020B0604020202020204" pitchFamily="34" charset="0"/>
              <a:buChar char="•"/>
            </a:pPr>
            <a:r>
              <a:rPr lang="en-US" b="1" dirty="0"/>
              <a:t>User Input</a:t>
            </a:r>
          </a:p>
          <a:p>
            <a:r>
              <a:rPr lang="en-US" dirty="0"/>
              <a:t>1.Hourly energy consumption logs: These can be CSV or Excel files containing historical electricity usage data (e.g., kWh per hour for a building or industrial system).</a:t>
            </a:r>
          </a:p>
          <a:p>
            <a:r>
              <a:rPr lang="en-US" dirty="0"/>
              <a:t>2.Device usage logs: Information about which devices (ACs, lights, machines) were used, their operating hours, and intensity of usage.</a:t>
            </a:r>
          </a:p>
          <a:p>
            <a:r>
              <a:rPr lang="en-US" dirty="0"/>
              <a:t>3.Building metadata: Contextual details like shift hours, number of workers, floor area, equipment specifications, and occupancy patterns.</a:t>
            </a:r>
          </a:p>
          <a:p>
            <a:endParaRPr lang="en-US" dirty="0"/>
          </a:p>
          <a:p>
            <a:pPr marL="285750" indent="-285750">
              <a:buFont typeface="Arial" panose="020B0604020202020204" pitchFamily="34" charset="0"/>
              <a:buChar char="•"/>
            </a:pPr>
            <a:r>
              <a:rPr lang="en-US" b="1" dirty="0"/>
              <a:t>Data Preprocessing</a:t>
            </a:r>
          </a:p>
          <a:p>
            <a:r>
              <a:rPr lang="en-US" dirty="0"/>
              <a:t>1.Cleaning missing or erroneous data.</a:t>
            </a:r>
          </a:p>
          <a:p>
            <a:r>
              <a:rPr lang="en-US" dirty="0"/>
              <a:t>2.Normalizing numerical features to standard ranges.</a:t>
            </a:r>
          </a:p>
          <a:p>
            <a:r>
              <a:rPr lang="en-US" dirty="0"/>
              <a:t>3.Encoding categorical variables (e.g., device type, shift type).</a:t>
            </a:r>
          </a:p>
          <a:p>
            <a:r>
              <a:rPr lang="en-US" dirty="0"/>
              <a:t>4.Feature engineering: creating additional meaningful features such as peak/off-peak hours, occupancy patterns, or energy per device.</a:t>
            </a:r>
          </a:p>
          <a:p>
            <a:r>
              <a:rPr lang="en-US" dirty="0"/>
              <a:t>5.Splitting data into training, validation, and test sets for the LSTM model.</a:t>
            </a:r>
          </a:p>
          <a:p>
            <a:endParaRPr lang="en-US" dirty="0"/>
          </a:p>
          <a:p>
            <a:pPr marL="285750" indent="-285750">
              <a:buFont typeface="Arial" panose="020B0604020202020204" pitchFamily="34" charset="0"/>
              <a:buChar char="•"/>
            </a:pPr>
            <a:r>
              <a:rPr lang="en-US" b="1" dirty="0"/>
              <a:t>LSTM Model (Prediction)</a:t>
            </a:r>
          </a:p>
          <a:p>
            <a:r>
              <a:rPr lang="en-US" dirty="0"/>
              <a:t>1.Long Short-Term Memory (LSTM) network predicts future energy consumption based on historical consumption, device usage, and building metadata.</a:t>
            </a:r>
          </a:p>
          <a:p>
            <a:r>
              <a:rPr lang="en-US" dirty="0"/>
              <a:t>2.Captures temporal patterns like daily/weekly trends and peak consumption hours.</a:t>
            </a:r>
          </a:p>
          <a:p>
            <a:r>
              <a:rPr lang="en-US" dirty="0"/>
              <a:t>3.Generates a forecast of energy demand at an hourly or sub-hourly level.</a:t>
            </a:r>
          </a:p>
          <a:p>
            <a:endParaRPr lang="en-IN" dirty="0"/>
          </a:p>
        </p:txBody>
      </p:sp>
      <p:cxnSp>
        <p:nvCxnSpPr>
          <p:cNvPr id="3" name="Straight Connector 2">
            <a:extLst>
              <a:ext uri="{FF2B5EF4-FFF2-40B4-BE49-F238E27FC236}">
                <a16:creationId xmlns:a16="http://schemas.microsoft.com/office/drawing/2014/main" id="{56D4CC51-A586-CDDB-B74F-EF24CFEC2F62}"/>
              </a:ext>
            </a:extLst>
          </p:cNvPr>
          <p:cNvCxnSpPr/>
          <p:nvPr/>
        </p:nvCxnSpPr>
        <p:spPr>
          <a:xfrm>
            <a:off x="41988" y="69479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40102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2AEEC-D9A2-458B-3209-BFB7A5E8D3B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43C1825-9D0C-4DEF-4BFA-BBB0CF779EE1}"/>
              </a:ext>
            </a:extLst>
          </p:cNvPr>
          <p:cNvSpPr txBox="1"/>
          <p:nvPr/>
        </p:nvSpPr>
        <p:spPr>
          <a:xfrm flipH="1">
            <a:off x="3489651" y="74646"/>
            <a:ext cx="6428792" cy="769441"/>
          </a:xfrm>
          <a:prstGeom prst="rect">
            <a:avLst/>
          </a:prstGeom>
          <a:noFill/>
        </p:spPr>
        <p:txBody>
          <a:bodyPr wrap="square" rtlCol="0">
            <a:spAutoFit/>
          </a:bodyPr>
          <a:lstStyle/>
          <a:p>
            <a:r>
              <a:rPr lang="en-US" sz="4400" dirty="0"/>
              <a:t>Proposed Methodology</a:t>
            </a:r>
            <a:endParaRPr lang="en-IN" sz="4400" dirty="0"/>
          </a:p>
        </p:txBody>
      </p:sp>
      <p:sp>
        <p:nvSpPr>
          <p:cNvPr id="5" name="TextBox 4">
            <a:extLst>
              <a:ext uri="{FF2B5EF4-FFF2-40B4-BE49-F238E27FC236}">
                <a16:creationId xmlns:a16="http://schemas.microsoft.com/office/drawing/2014/main" id="{7159A70B-C917-2636-3E10-F280FCE1AD3D}"/>
              </a:ext>
            </a:extLst>
          </p:cNvPr>
          <p:cNvSpPr txBox="1"/>
          <p:nvPr/>
        </p:nvSpPr>
        <p:spPr>
          <a:xfrm>
            <a:off x="326571" y="1859339"/>
            <a:ext cx="11865429" cy="3139321"/>
          </a:xfrm>
          <a:prstGeom prst="rect">
            <a:avLst/>
          </a:prstGeom>
          <a:noFill/>
        </p:spPr>
        <p:txBody>
          <a:bodyPr wrap="square">
            <a:spAutoFit/>
          </a:bodyPr>
          <a:lstStyle/>
          <a:p>
            <a:pPr marL="285750" indent="-285750">
              <a:buFont typeface="Arial" panose="020B0604020202020204" pitchFamily="34" charset="0"/>
              <a:buChar char="•"/>
            </a:pPr>
            <a:r>
              <a:rPr lang="en-US" b="1" dirty="0"/>
              <a:t>PPO Model – Optimization &amp; Control Module</a:t>
            </a:r>
          </a:p>
          <a:p>
            <a:r>
              <a:rPr lang="en-US" dirty="0"/>
              <a:t>1.Proximal Policy Optimization (PPO), a reinforcement learning algorithm, determines optimal energy usage strategies.</a:t>
            </a:r>
          </a:p>
          <a:p>
            <a:r>
              <a:rPr lang="en-US" dirty="0"/>
              <a:t>2.Learns to minimize energy consumption while maintaining operational requirements (e.g., machine uptime, worker comfort).</a:t>
            </a:r>
          </a:p>
          <a:p>
            <a:r>
              <a:rPr lang="en-US" dirty="0"/>
              <a:t>3.Suggests which devices to turn off, dim, or reschedule based on predicted loads.</a:t>
            </a:r>
          </a:p>
          <a:p>
            <a:endParaRPr lang="en-US" dirty="0"/>
          </a:p>
          <a:p>
            <a:pPr marL="285750" indent="-285750">
              <a:buFont typeface="Arial" panose="020B0604020202020204" pitchFamily="34" charset="0"/>
              <a:buChar char="•"/>
            </a:pPr>
            <a:r>
              <a:rPr lang="en-US" b="1" dirty="0"/>
              <a:t>Web App Frontend – Visualizations and Controls</a:t>
            </a:r>
          </a:p>
          <a:p>
            <a:r>
              <a:rPr lang="en-US" dirty="0"/>
              <a:t>1.Displays energy consumption predictions and optimization recommendations through interactive dashboards.</a:t>
            </a:r>
          </a:p>
          <a:p>
            <a:r>
              <a:rPr lang="en-US" dirty="0"/>
              <a:t>2.Provides visualization of device usage patterns, energy savings potential, and operational alerts.</a:t>
            </a:r>
          </a:p>
          <a:p>
            <a:r>
              <a:rPr lang="en-US" dirty="0"/>
              <a:t>3.Allows user to manually adjust device operations based on model recommendations.</a:t>
            </a:r>
          </a:p>
          <a:p>
            <a:endParaRPr lang="en-IN" dirty="0"/>
          </a:p>
        </p:txBody>
      </p:sp>
      <p:cxnSp>
        <p:nvCxnSpPr>
          <p:cNvPr id="4" name="Straight Connector 3">
            <a:extLst>
              <a:ext uri="{FF2B5EF4-FFF2-40B4-BE49-F238E27FC236}">
                <a16:creationId xmlns:a16="http://schemas.microsoft.com/office/drawing/2014/main" id="{B76BB74C-DF21-6C35-87C9-D7C0F5949E4F}"/>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343493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DFFC8-0C00-34C3-33CE-5F82D5F5E56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A85F98AF-CC68-3AFB-A866-56CCCC844469}"/>
              </a:ext>
            </a:extLst>
          </p:cNvPr>
          <p:cNvSpPr txBox="1"/>
          <p:nvPr/>
        </p:nvSpPr>
        <p:spPr>
          <a:xfrm flipH="1">
            <a:off x="3648271" y="0"/>
            <a:ext cx="5215811" cy="1446550"/>
          </a:xfrm>
          <a:prstGeom prst="rect">
            <a:avLst/>
          </a:prstGeom>
          <a:noFill/>
        </p:spPr>
        <p:txBody>
          <a:bodyPr wrap="square" rtlCol="0">
            <a:spAutoFit/>
          </a:bodyPr>
          <a:lstStyle/>
          <a:p>
            <a:r>
              <a:rPr lang="en-US" sz="4400" dirty="0"/>
              <a:t>Project Flow Diagram </a:t>
            </a:r>
            <a:br>
              <a:rPr lang="en-US" sz="4400" dirty="0"/>
            </a:br>
            <a:endParaRPr lang="en-IN" sz="4400" dirty="0"/>
          </a:p>
        </p:txBody>
      </p:sp>
      <p:cxnSp>
        <p:nvCxnSpPr>
          <p:cNvPr id="4" name="Straight Connector 3">
            <a:extLst>
              <a:ext uri="{FF2B5EF4-FFF2-40B4-BE49-F238E27FC236}">
                <a16:creationId xmlns:a16="http://schemas.microsoft.com/office/drawing/2014/main" id="{9A59DF88-0EEA-9C6B-F705-485EB77DECEF}"/>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3" name="Picture 2" descr="A diagram of a software development process">
            <a:extLst>
              <a:ext uri="{FF2B5EF4-FFF2-40B4-BE49-F238E27FC236}">
                <a16:creationId xmlns:a16="http://schemas.microsoft.com/office/drawing/2014/main" id="{C0E2A3BE-EC51-A966-95E5-2AEDF72ADF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8090" y="1446550"/>
            <a:ext cx="9170435" cy="5109428"/>
          </a:xfrm>
          <a:prstGeom prst="rect">
            <a:avLst/>
          </a:prstGeom>
        </p:spPr>
      </p:pic>
    </p:spTree>
    <p:extLst>
      <p:ext uri="{BB962C8B-B14F-4D97-AF65-F5344CB8AC3E}">
        <p14:creationId xmlns:p14="http://schemas.microsoft.com/office/powerpoint/2010/main" val="10763792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E00DB3-A93D-4F01-A8A8-F267E8DC71A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9C2A3B2-C2E1-ED19-5E07-E80FF95B975B}"/>
              </a:ext>
            </a:extLst>
          </p:cNvPr>
          <p:cNvSpPr txBox="1"/>
          <p:nvPr/>
        </p:nvSpPr>
        <p:spPr>
          <a:xfrm flipH="1">
            <a:off x="3512197" y="0"/>
            <a:ext cx="6102219" cy="769441"/>
          </a:xfrm>
          <a:prstGeom prst="rect">
            <a:avLst/>
          </a:prstGeom>
          <a:noFill/>
        </p:spPr>
        <p:txBody>
          <a:bodyPr wrap="square" rtlCol="0">
            <a:spAutoFit/>
          </a:bodyPr>
          <a:lstStyle/>
          <a:p>
            <a:r>
              <a:rPr lang="en-US" sz="4400" dirty="0"/>
              <a:t>Results and Discussion</a:t>
            </a:r>
            <a:endParaRPr lang="en-IN" sz="4400" dirty="0"/>
          </a:p>
        </p:txBody>
      </p:sp>
      <p:cxnSp>
        <p:nvCxnSpPr>
          <p:cNvPr id="4" name="Straight Connector 3">
            <a:extLst>
              <a:ext uri="{FF2B5EF4-FFF2-40B4-BE49-F238E27FC236}">
                <a16:creationId xmlns:a16="http://schemas.microsoft.com/office/drawing/2014/main" id="{30B63946-F338-B11B-5F19-5D991F00451D}"/>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FC210E2D-F2C8-927A-8FB4-FC8939497659}"/>
              </a:ext>
            </a:extLst>
          </p:cNvPr>
          <p:cNvSpPr txBox="1"/>
          <p:nvPr/>
        </p:nvSpPr>
        <p:spPr>
          <a:xfrm>
            <a:off x="83976" y="1063691"/>
            <a:ext cx="7427167" cy="400110"/>
          </a:xfrm>
          <a:prstGeom prst="rect">
            <a:avLst/>
          </a:prstGeom>
          <a:noFill/>
        </p:spPr>
        <p:txBody>
          <a:bodyPr wrap="square" rtlCol="0">
            <a:spAutoFit/>
          </a:bodyPr>
          <a:lstStyle/>
          <a:p>
            <a:r>
              <a:rPr lang="en-US" sz="2000" dirty="0"/>
              <a:t>Note – Below mentioned results are based on small scale equipment.</a:t>
            </a:r>
            <a:endParaRPr lang="en-IN" sz="2000" dirty="0"/>
          </a:p>
        </p:txBody>
      </p:sp>
      <p:sp>
        <p:nvSpPr>
          <p:cNvPr id="6" name="TextBox 5">
            <a:extLst>
              <a:ext uri="{FF2B5EF4-FFF2-40B4-BE49-F238E27FC236}">
                <a16:creationId xmlns:a16="http://schemas.microsoft.com/office/drawing/2014/main" id="{DAC585AB-B39B-A388-684A-8632646FEB4F}"/>
              </a:ext>
            </a:extLst>
          </p:cNvPr>
          <p:cNvSpPr txBox="1"/>
          <p:nvPr/>
        </p:nvSpPr>
        <p:spPr>
          <a:xfrm>
            <a:off x="195943" y="1904551"/>
            <a:ext cx="11374016" cy="4524315"/>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Trained on ~8,000+ records with 5-minute intervals (Sept–Dec 2025 data)</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Model learned the relationship between:</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Indoor conditions</a:t>
            </a:r>
            <a:r>
              <a:rPr lang="en-US" altLang="en-US" dirty="0">
                <a:latin typeface="Arial" panose="020B0604020202020204" pitchFamily="34" charset="0"/>
              </a:rPr>
              <a:t> (temperature, humidity, occupancy)</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Outdoor conditions</a:t>
            </a:r>
            <a:r>
              <a:rPr lang="en-US" altLang="en-US" dirty="0">
                <a:latin typeface="Arial" panose="020B0604020202020204" pitchFamily="34" charset="0"/>
              </a:rPr>
              <a:t> (temperature, humidity, wind)</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latin typeface="Arial" panose="020B0604020202020204" pitchFamily="34" charset="0"/>
              </a:rPr>
              <a:t>Fan usage patterns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Achieved good accuracy (model correctly predicts ON/OFF in most cases)</a:t>
            </a:r>
          </a:p>
          <a:p>
            <a:pPr marL="285750" lvl="0" indent="-285750" eaLnBrk="0" fontAlgn="base" hangingPunct="0">
              <a:spcBef>
                <a:spcPct val="0"/>
              </a:spcBef>
              <a:spcAft>
                <a:spcPct val="0"/>
              </a:spcAft>
              <a:buFont typeface="Arial" panose="020B0604020202020204" pitchFamily="34" charset="0"/>
              <a:buChar char="•"/>
            </a:pPr>
            <a:endParaRPr lang="en-US" altLang="en-US" dirty="0">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dirty="0">
                <a:latin typeface="Arial" panose="020B0604020202020204" pitchFamily="34" charset="0"/>
              </a:rPr>
              <a:t>Can forecast </a:t>
            </a:r>
            <a:r>
              <a:rPr lang="en-US" altLang="en-US" b="1" dirty="0">
                <a:latin typeface="Arial" panose="020B0604020202020204" pitchFamily="34" charset="0"/>
              </a:rPr>
              <a:t>fan state</a:t>
            </a:r>
            <a:r>
              <a:rPr lang="en-US" altLang="en-US" dirty="0">
                <a:latin typeface="Arial" panose="020B0604020202020204" pitchFamily="34" charset="0"/>
              </a:rPr>
              <a:t> ahead of time, helping in:</a:t>
            </a:r>
          </a:p>
          <a:p>
            <a:pPr marL="685800" lvl="1" indent="-285750" eaLnBrk="0" fontAlgn="base" hangingPunct="0">
              <a:lnSpc>
                <a:spcPct val="100000"/>
              </a:lnSpc>
              <a:spcBef>
                <a:spcPct val="0"/>
              </a:spcBef>
              <a:spcAft>
                <a:spcPct val="0"/>
              </a:spcAft>
              <a:buFont typeface="Arial" panose="020B0604020202020204" pitchFamily="34" charset="0"/>
              <a:buChar char="•"/>
            </a:pPr>
            <a:r>
              <a:rPr lang="en-US" altLang="en-US" b="1" dirty="0">
                <a:latin typeface="Arial" panose="020B0604020202020204" pitchFamily="34" charset="0"/>
              </a:rPr>
              <a:t>Energy saving</a:t>
            </a:r>
            <a:endParaRPr lang="en-US" altLang="en-US" dirty="0">
              <a:latin typeface="Arial" panose="020B0604020202020204" pitchFamily="34" charset="0"/>
            </a:endParaRPr>
          </a:p>
          <a:p>
            <a:pPr marL="685800" lvl="1" indent="-285750" eaLnBrk="0" fontAlgn="base" hangingPunct="0">
              <a:lnSpc>
                <a:spcPct val="100000"/>
              </a:lnSpc>
              <a:spcBef>
                <a:spcPct val="0"/>
              </a:spcBef>
              <a:spcAft>
                <a:spcPct val="0"/>
              </a:spcAft>
              <a:buFont typeface="Arial" panose="020B0604020202020204" pitchFamily="34" charset="0"/>
              <a:buChar char="•"/>
            </a:pPr>
            <a:r>
              <a:rPr lang="en-US" altLang="en-US" b="1" dirty="0">
                <a:latin typeface="Arial" panose="020B0604020202020204" pitchFamily="34" charset="0"/>
              </a:rPr>
              <a:t>Better comfort control</a:t>
            </a:r>
            <a:endParaRPr lang="en-US" altLang="en-US" dirty="0">
              <a:latin typeface="Arial" panose="020B0604020202020204" pitchFamily="34" charset="0"/>
            </a:endParaRPr>
          </a:p>
          <a:p>
            <a:pPr lvl="0" eaLnBrk="0" fontAlgn="base" hangingPunct="0">
              <a:spcBef>
                <a:spcPct val="0"/>
              </a:spcBef>
              <a:spcAft>
                <a:spcPct val="0"/>
              </a:spcAft>
            </a:pPr>
            <a:endParaRPr lang="en-US" altLang="en-US" dirty="0">
              <a:latin typeface="Arial" panose="020B0604020202020204" pitchFamily="34" charset="0"/>
            </a:endParaRPr>
          </a:p>
        </p:txBody>
      </p:sp>
    </p:spTree>
    <p:extLst>
      <p:ext uri="{BB962C8B-B14F-4D97-AF65-F5344CB8AC3E}">
        <p14:creationId xmlns:p14="http://schemas.microsoft.com/office/powerpoint/2010/main" val="32659995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E90A1-A62A-1096-94D0-E810C999D87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9C00721-14C6-0E90-3E76-2206446A644C}"/>
              </a:ext>
            </a:extLst>
          </p:cNvPr>
          <p:cNvSpPr txBox="1"/>
          <p:nvPr/>
        </p:nvSpPr>
        <p:spPr>
          <a:xfrm flipH="1">
            <a:off x="4715845" y="0"/>
            <a:ext cx="3560407" cy="1446550"/>
          </a:xfrm>
          <a:prstGeom prst="rect">
            <a:avLst/>
          </a:prstGeom>
          <a:noFill/>
        </p:spPr>
        <p:txBody>
          <a:bodyPr wrap="square" rtlCol="0">
            <a:spAutoFit/>
          </a:bodyPr>
          <a:lstStyle/>
          <a:p>
            <a:r>
              <a:rPr lang="en-US" sz="4400" dirty="0"/>
              <a:t>Conclusion</a:t>
            </a:r>
            <a:br>
              <a:rPr lang="en-US" sz="4400" dirty="0"/>
            </a:br>
            <a:endParaRPr lang="en-IN" sz="4400" dirty="0"/>
          </a:p>
        </p:txBody>
      </p:sp>
      <p:cxnSp>
        <p:nvCxnSpPr>
          <p:cNvPr id="4" name="Straight Connector 3">
            <a:extLst>
              <a:ext uri="{FF2B5EF4-FFF2-40B4-BE49-F238E27FC236}">
                <a16:creationId xmlns:a16="http://schemas.microsoft.com/office/drawing/2014/main" id="{3BE4E037-15B7-23AD-2B5F-A2878692A4F8}"/>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BA0BD750-BD02-7206-E2FD-32528F492E06}"/>
              </a:ext>
            </a:extLst>
          </p:cNvPr>
          <p:cNvSpPr txBox="1"/>
          <p:nvPr/>
        </p:nvSpPr>
        <p:spPr>
          <a:xfrm>
            <a:off x="796213" y="2090172"/>
            <a:ext cx="10683550" cy="2677656"/>
          </a:xfrm>
          <a:prstGeom prst="rect">
            <a:avLst/>
          </a:prstGeom>
          <a:noFill/>
        </p:spPr>
        <p:txBody>
          <a:bodyPr wrap="square" rtlCol="0">
            <a:spAutoFit/>
          </a:bodyPr>
          <a:lstStyle/>
          <a:p>
            <a:r>
              <a:rPr lang="en-US" sz="2400" dirty="0"/>
              <a:t>This project demonstrates how AI-based forecasting combined with reinforcement learning can optimize energy consumption in industrial and commercial buildings. By analyzing historical data and predicting future demand, the system provides intelligent control strategies that improve efficiency while maintaining occupant comfort. The results highlight potential cost savings, reduced energy waste, and support for sustainability goals, making it a practical solution for industries aiming to move towards smarter and greener energy management.</a:t>
            </a:r>
            <a:endParaRPr lang="en-IN" sz="2400" dirty="0"/>
          </a:p>
        </p:txBody>
      </p:sp>
    </p:spTree>
    <p:extLst>
      <p:ext uri="{BB962C8B-B14F-4D97-AF65-F5344CB8AC3E}">
        <p14:creationId xmlns:p14="http://schemas.microsoft.com/office/powerpoint/2010/main" val="38129911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2B89C4-4B1C-8F03-5FFF-E21BB20FA0E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23C5CF3D-3187-E80E-2087-3E41A7E25546}"/>
              </a:ext>
            </a:extLst>
          </p:cNvPr>
          <p:cNvSpPr txBox="1"/>
          <p:nvPr/>
        </p:nvSpPr>
        <p:spPr>
          <a:xfrm flipH="1">
            <a:off x="4613209" y="0"/>
            <a:ext cx="3560407" cy="769441"/>
          </a:xfrm>
          <a:prstGeom prst="rect">
            <a:avLst/>
          </a:prstGeom>
          <a:noFill/>
        </p:spPr>
        <p:txBody>
          <a:bodyPr wrap="square" rtlCol="0">
            <a:spAutoFit/>
          </a:bodyPr>
          <a:lstStyle/>
          <a:p>
            <a:r>
              <a:rPr lang="en-US" sz="4400" dirty="0"/>
              <a:t>References</a:t>
            </a:r>
            <a:endParaRPr lang="en-IN" sz="4400" dirty="0"/>
          </a:p>
        </p:txBody>
      </p:sp>
      <p:cxnSp>
        <p:nvCxnSpPr>
          <p:cNvPr id="4" name="Straight Connector 3">
            <a:extLst>
              <a:ext uri="{FF2B5EF4-FFF2-40B4-BE49-F238E27FC236}">
                <a16:creationId xmlns:a16="http://schemas.microsoft.com/office/drawing/2014/main" id="{60BE9D1E-8436-3497-DA2D-21C5585C1F79}"/>
              </a:ext>
            </a:extLst>
          </p:cNvPr>
          <p:cNvCxnSpPr/>
          <p:nvPr/>
        </p:nvCxnSpPr>
        <p:spPr>
          <a:xfrm>
            <a:off x="83976" y="844087"/>
            <a:ext cx="12108024" cy="0"/>
          </a:xfrm>
          <a:prstGeom prst="line">
            <a:avLst/>
          </a:prstGeom>
          <a:ln>
            <a:solidFill>
              <a:schemeClr val="accent1"/>
            </a:solidFill>
          </a:ln>
          <a:effectLst>
            <a:outerShdw blurRad="50800" dist="38100" dir="5400000" algn="t"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21A21867-38D6-2028-E75E-9439F9424D24}"/>
              </a:ext>
            </a:extLst>
          </p:cNvPr>
          <p:cNvSpPr txBox="1"/>
          <p:nvPr/>
        </p:nvSpPr>
        <p:spPr>
          <a:xfrm>
            <a:off x="394996" y="1157110"/>
            <a:ext cx="11174963" cy="5509200"/>
          </a:xfrm>
          <a:prstGeom prst="rect">
            <a:avLst/>
          </a:prstGeom>
          <a:noFill/>
        </p:spPr>
        <p:txBody>
          <a:bodyPr wrap="square" rtlCol="0">
            <a:spAutoFit/>
          </a:bodyPr>
          <a:lstStyle/>
          <a:p>
            <a:r>
              <a:rPr lang="pt-PT" sz="1600" dirty="0"/>
              <a:t>[1</a:t>
            </a:r>
            <a:r>
              <a:rPr lang="pt-PT" sz="1600" b="1" dirty="0"/>
              <a:t>]</a:t>
            </a:r>
            <a:r>
              <a:rPr lang="de-DE" sz="1600" dirty="0"/>
              <a:t> R. Teichner, R. Meir, and M. Margaliot, </a:t>
            </a:r>
            <a:r>
              <a:rPr lang="ar-SA" sz="1600" dirty="0"/>
              <a:t>“</a:t>
            </a:r>
            <a:r>
              <a:rPr lang="en-US" sz="1600" dirty="0"/>
              <a:t>Analysis of the Identifying Regulation with Adversarial Surrogates Algorithm,” </a:t>
            </a:r>
            <a:r>
              <a:rPr lang="en-US" sz="1600" i="1" dirty="0"/>
              <a:t>IEEE Control Systems Letters</a:t>
            </a:r>
            <a:r>
              <a:rPr lang="en-US" sz="1600" dirty="0"/>
              <a:t>, vol. 8, pp. 1623–1628, 2024, </a:t>
            </a:r>
            <a:r>
              <a:rPr lang="en-US" sz="1600" dirty="0" err="1"/>
              <a:t>doi</a:t>
            </a:r>
            <a:r>
              <a:rPr lang="en-US" sz="1600" dirty="0"/>
              <a:t>: 10.1109/LCSYS.2024.3392559.</a:t>
            </a:r>
            <a:endParaRPr lang="en-IN" sz="1600" dirty="0"/>
          </a:p>
          <a:p>
            <a:r>
              <a:rPr lang="en-US" sz="1600" dirty="0"/>
              <a:t>[2]A. </a:t>
            </a:r>
            <a:r>
              <a:rPr lang="en-US" sz="1600" dirty="0" err="1"/>
              <a:t>Manjavacas</a:t>
            </a:r>
            <a:r>
              <a:rPr lang="en-US" sz="1600" dirty="0"/>
              <a:t>, A. Campoy‑Nieves, J. Jim</a:t>
            </a:r>
            <a:r>
              <a:rPr lang="fr-FR" sz="1600" dirty="0"/>
              <a:t>é</a:t>
            </a:r>
            <a:r>
              <a:rPr lang="en-US" sz="1600" dirty="0" err="1"/>
              <a:t>nez</a:t>
            </a:r>
            <a:r>
              <a:rPr lang="en-US" sz="1600" dirty="0"/>
              <a:t>‑</a:t>
            </a:r>
            <a:r>
              <a:rPr lang="it-IT" sz="1600" dirty="0"/>
              <a:t>Raboso, M. Molina</a:t>
            </a:r>
            <a:r>
              <a:rPr lang="en-US" sz="1600" dirty="0"/>
              <a:t>‑Solana, and J. G</a:t>
            </a:r>
            <a:r>
              <a:rPr lang="es-ES_tradnl" sz="1600" dirty="0" err="1"/>
              <a:t>ó</a:t>
            </a:r>
            <a:r>
              <a:rPr lang="en-US" sz="1600" dirty="0" err="1"/>
              <a:t>mez</a:t>
            </a:r>
            <a:r>
              <a:rPr lang="en-US" sz="1600" dirty="0"/>
              <a:t>‑</a:t>
            </a:r>
            <a:r>
              <a:rPr lang="es-ES_tradnl" sz="1600" dirty="0"/>
              <a:t>Romero, </a:t>
            </a:r>
            <a:r>
              <a:rPr lang="ar-SA" sz="1600" dirty="0"/>
              <a:t>“</a:t>
            </a:r>
            <a:r>
              <a:rPr lang="en-US" sz="1600" dirty="0"/>
              <a:t>An experimental evaluation of deep reinforcement learning algorithms for HVAC control,” </a:t>
            </a:r>
            <a:r>
              <a:rPr lang="en-US" sz="1600" i="1" dirty="0"/>
              <a:t>Artificial Intelligence Review</a:t>
            </a:r>
            <a:r>
              <a:rPr lang="pt-PT" sz="1600" dirty="0"/>
              <a:t>, vol.</a:t>
            </a:r>
            <a:r>
              <a:rPr lang="en-US" sz="1600" dirty="0"/>
              <a:t> </a:t>
            </a:r>
            <a:r>
              <a:rPr lang="it-IT" sz="1600" dirty="0"/>
              <a:t>57, no.</a:t>
            </a:r>
            <a:r>
              <a:rPr lang="fr-FR" sz="1600" dirty="0"/>
              <a:t> </a:t>
            </a:r>
            <a:r>
              <a:rPr lang="en-US" sz="1600" dirty="0"/>
              <a:t>7, art.</a:t>
            </a:r>
            <a:r>
              <a:rPr lang="fr-FR" sz="1600" dirty="0"/>
              <a:t> </a:t>
            </a:r>
            <a:r>
              <a:rPr lang="en-US" sz="1600" dirty="0"/>
              <a:t>173, Jun.</a:t>
            </a:r>
            <a:r>
              <a:rPr lang="fr-FR" sz="1600" dirty="0"/>
              <a:t> </a:t>
            </a:r>
            <a:r>
              <a:rPr lang="en-US" sz="1600" dirty="0"/>
              <a:t>2024, doi:10.1007/s10462-024-10819‑x</a:t>
            </a:r>
            <a:endParaRPr lang="en-IN" sz="1600" dirty="0"/>
          </a:p>
          <a:p>
            <a:r>
              <a:rPr lang="pt-PT" sz="1600" dirty="0"/>
              <a:t>[</a:t>
            </a:r>
            <a:r>
              <a:rPr lang="en-US" sz="1600" dirty="0"/>
              <a:t>3] H. Wang, X. Chen, N. Vital, E. Duffy, and A. Razi, </a:t>
            </a:r>
            <a:r>
              <a:rPr lang="ar-SA" sz="1600" dirty="0"/>
              <a:t>“</a:t>
            </a:r>
            <a:r>
              <a:rPr lang="en-US" sz="1600" dirty="0"/>
              <a:t>Energy optimization for HVAC systems in multi‑VAV open offices: A deep reinforcement learning approach,” </a:t>
            </a:r>
            <a:r>
              <a:rPr lang="en-US" sz="1600" i="1" dirty="0"/>
              <a:t>Applied Energy</a:t>
            </a:r>
            <a:r>
              <a:rPr lang="pt-PT" sz="1600" dirty="0"/>
              <a:t>, vol.</a:t>
            </a:r>
            <a:r>
              <a:rPr lang="fr-FR" sz="1600" dirty="0"/>
              <a:t> </a:t>
            </a:r>
            <a:r>
              <a:rPr lang="en-US" sz="1600" dirty="0"/>
              <a:t>356, article 122354, Feb.</a:t>
            </a:r>
            <a:r>
              <a:rPr lang="fr-FR" sz="1600" dirty="0"/>
              <a:t> </a:t>
            </a:r>
            <a:r>
              <a:rPr lang="en-US" sz="1600" dirty="0"/>
              <a:t>2024, </a:t>
            </a:r>
            <a:r>
              <a:rPr lang="en-US" sz="1600" dirty="0" err="1"/>
              <a:t>doi</a:t>
            </a:r>
            <a:r>
              <a:rPr lang="en-US" sz="1600" dirty="0"/>
              <a:t>:</a:t>
            </a:r>
            <a:r>
              <a:rPr lang="fr-FR" sz="1600" dirty="0"/>
              <a:t> </a:t>
            </a:r>
            <a:r>
              <a:rPr lang="en-US" sz="1600" dirty="0"/>
              <a:t>10.1016/j.apenergy.2023.122354.</a:t>
            </a:r>
            <a:endParaRPr lang="en-IN" sz="1600" dirty="0"/>
          </a:p>
          <a:p>
            <a:r>
              <a:rPr lang="pt-PT" sz="1600" dirty="0"/>
              <a:t>[</a:t>
            </a:r>
            <a:r>
              <a:rPr lang="en-US" sz="1600" dirty="0"/>
              <a:t>4] X. Ding, A. Cerpa, and W. Du, </a:t>
            </a:r>
            <a:r>
              <a:rPr lang="ar-SA" sz="1600" dirty="0"/>
              <a:t>“</a:t>
            </a:r>
            <a:r>
              <a:rPr lang="en-US" sz="1600" dirty="0"/>
              <a:t>Exploring Deep Reinforcement Learning for Holistic Smart Building Control,” </a:t>
            </a:r>
            <a:r>
              <a:rPr lang="en-US" sz="1600" i="1" dirty="0" err="1"/>
              <a:t>arXiv</a:t>
            </a:r>
            <a:r>
              <a:rPr lang="en-US" sz="1600" i="1" dirty="0"/>
              <a:t> preprint</a:t>
            </a:r>
            <a:r>
              <a:rPr lang="en-US" sz="1600" dirty="0"/>
              <a:t> arXiv:2301.11510, Jan. 2023. doi:10.1145/3656043.</a:t>
            </a:r>
            <a:endParaRPr lang="en-IN" sz="1600" dirty="0"/>
          </a:p>
          <a:p>
            <a:r>
              <a:rPr lang="pt-PT" sz="1600" dirty="0"/>
              <a:t>[</a:t>
            </a:r>
            <a:r>
              <a:rPr lang="en-US" sz="1600" dirty="0"/>
              <a:t>5</a:t>
            </a:r>
            <a:r>
              <a:rPr lang="pt-PT" sz="1600" dirty="0"/>
              <a:t>]</a:t>
            </a:r>
            <a:r>
              <a:rPr lang="en-US" sz="1600" dirty="0"/>
              <a:t> X.</a:t>
            </a:r>
            <a:r>
              <a:rPr lang="fr-FR" sz="1600" dirty="0"/>
              <a:t> </a:t>
            </a:r>
            <a:r>
              <a:rPr lang="en-US" sz="1600" dirty="0"/>
              <a:t>Qu and B.</a:t>
            </a:r>
            <a:r>
              <a:rPr lang="fr-FR" sz="1600" dirty="0"/>
              <a:t> </a:t>
            </a:r>
            <a:r>
              <a:rPr lang="en-US" sz="1600" dirty="0"/>
              <a:t>Zhu, </a:t>
            </a:r>
            <a:r>
              <a:rPr lang="ar-SA" sz="1600" dirty="0"/>
              <a:t>“</a:t>
            </a:r>
            <a:r>
              <a:rPr lang="en-US" sz="1600" dirty="0"/>
              <a:t>Digital Finance and Corporate Cash‑Holding Strategy: Organizational Heterogeneity and Strategic Transmission Channels,” </a:t>
            </a:r>
            <a:r>
              <a:rPr lang="en-US" sz="1600" i="1" dirty="0"/>
              <a:t>Sustainability</a:t>
            </a:r>
            <a:r>
              <a:rPr lang="pt-PT" sz="1600" dirty="0"/>
              <a:t>, vol.</a:t>
            </a:r>
            <a:r>
              <a:rPr lang="fr-FR" sz="1600" dirty="0"/>
              <a:t> </a:t>
            </a:r>
            <a:r>
              <a:rPr lang="it-IT" sz="1600" dirty="0"/>
              <a:t>15, no.</a:t>
            </a:r>
            <a:r>
              <a:rPr lang="fr-FR" sz="1600" dirty="0"/>
              <a:t> </a:t>
            </a:r>
            <a:r>
              <a:rPr lang="en-US" sz="1600" dirty="0"/>
              <a:t>3, art.</a:t>
            </a:r>
            <a:r>
              <a:rPr lang="fr-FR" sz="1600" dirty="0"/>
              <a:t> </a:t>
            </a:r>
            <a:r>
              <a:rPr lang="pt-PT" sz="1600" dirty="0"/>
              <a:t>2361, 2023, doi:</a:t>
            </a:r>
            <a:r>
              <a:rPr lang="fr-FR" sz="1600" dirty="0"/>
              <a:t> </a:t>
            </a:r>
            <a:r>
              <a:rPr lang="en-US" sz="1600" dirty="0"/>
              <a:t>10.3390/su15032361.</a:t>
            </a:r>
            <a:endParaRPr lang="en-IN" sz="1600" dirty="0"/>
          </a:p>
          <a:p>
            <a:r>
              <a:rPr lang="pt-PT" sz="1600" dirty="0"/>
              <a:t>[</a:t>
            </a:r>
            <a:r>
              <a:rPr lang="en-US" sz="1600" dirty="0"/>
              <a:t>6</a:t>
            </a:r>
            <a:r>
              <a:rPr lang="pt-PT" sz="1600" dirty="0"/>
              <a:t>]</a:t>
            </a:r>
            <a:r>
              <a:rPr lang="fr-FR" sz="1600" dirty="0"/>
              <a:t> Z. Chen, F. Xiao, et al., </a:t>
            </a:r>
            <a:r>
              <a:rPr lang="ar-SA" sz="1600" dirty="0"/>
              <a:t>“</a:t>
            </a:r>
            <a:r>
              <a:rPr lang="en-US" sz="1600" dirty="0"/>
              <a:t>Interpretable machine learning for building energy management: A state‑of‑the‑art review,” </a:t>
            </a:r>
            <a:r>
              <a:rPr lang="en-US" sz="1600" i="1" dirty="0"/>
              <a:t>Advances in Applied Energy</a:t>
            </a:r>
            <a:r>
              <a:rPr lang="pt-PT" sz="1600" dirty="0"/>
              <a:t>, vol.</a:t>
            </a:r>
            <a:r>
              <a:rPr lang="fr-FR" sz="1600" dirty="0"/>
              <a:t> </a:t>
            </a:r>
            <a:r>
              <a:rPr lang="en-US" sz="1600" dirty="0"/>
              <a:t>9, Feb.</a:t>
            </a:r>
            <a:r>
              <a:rPr lang="fr-FR" sz="1600" dirty="0"/>
              <a:t> </a:t>
            </a:r>
            <a:r>
              <a:rPr lang="en-US" sz="1600" dirty="0"/>
              <a:t>2023, Art.</a:t>
            </a:r>
            <a:r>
              <a:rPr lang="fr-FR" sz="1600" dirty="0"/>
              <a:t> </a:t>
            </a:r>
            <a:r>
              <a:rPr lang="pt-PT" sz="1600" dirty="0"/>
              <a:t>100123, doi:</a:t>
            </a:r>
            <a:r>
              <a:rPr lang="fr-FR" sz="1600" dirty="0"/>
              <a:t> </a:t>
            </a:r>
            <a:r>
              <a:rPr lang="en-US" sz="1600" dirty="0"/>
              <a:t>10.1016/j.adapen.2023.100123.</a:t>
            </a:r>
            <a:endParaRPr lang="en-IN" sz="1600" dirty="0"/>
          </a:p>
          <a:p>
            <a:r>
              <a:rPr lang="en-US" sz="1600" dirty="0"/>
              <a:t>[7] U. N. Upadhye and V. Patil, “Efficacy of </a:t>
            </a:r>
            <a:r>
              <a:rPr lang="en-US" sz="1600" dirty="0" err="1"/>
              <a:t>Agnikarma</a:t>
            </a:r>
            <a:r>
              <a:rPr lang="en-US" sz="1600" dirty="0"/>
              <a:t> in the management of </a:t>
            </a:r>
            <a:r>
              <a:rPr lang="en-US" sz="1600" dirty="0" err="1"/>
              <a:t>Gridhrasi</a:t>
            </a:r>
            <a:r>
              <a:rPr lang="en-US" sz="1600" dirty="0"/>
              <a:t> (sciatica)—A Scoping review,” Journal of Ayurveda and Holistic Medicine, vol. 12, no. 10, 2024, </a:t>
            </a:r>
            <a:r>
              <a:rPr lang="en-US" sz="1600" dirty="0" err="1"/>
              <a:t>doi</a:t>
            </a:r>
            <a:r>
              <a:rPr lang="en-US" sz="1600" dirty="0"/>
              <a:t>: 10.70066/jahm.v12i10.1508.</a:t>
            </a:r>
            <a:endParaRPr lang="en-IN" sz="1600" dirty="0"/>
          </a:p>
          <a:p>
            <a:r>
              <a:rPr lang="en-US" sz="1600" dirty="0"/>
              <a:t>[8] M. Kummer and K. Shaw, “The Separating Semigroup of a Real Curve,” Annales de la Faculté des Sciences de Toulouse. </a:t>
            </a:r>
            <a:r>
              <a:rPr lang="en-US" sz="1600" dirty="0" err="1"/>
              <a:t>Mathématiques</a:t>
            </a:r>
            <a:r>
              <a:rPr lang="en-US" sz="1600" dirty="0"/>
              <a:t>, vol. 29, no. 1, pp. 79–96, 2020.</a:t>
            </a:r>
            <a:endParaRPr lang="en-IN" sz="1600" dirty="0"/>
          </a:p>
          <a:p>
            <a:r>
              <a:rPr lang="en-US" sz="1600" dirty="0"/>
              <a:t>[9] M. A. Shakir, A. R. Appana, W. Khalid, S. R. P. J. K., and M. I. Ahmad, “Advancing insights into building electrical energy consumption: a comprehensive review of conventional and artificial intelligence methods,” Advances in Building Energy Research, pp. 1–44, Jun. 2025, </a:t>
            </a:r>
            <a:r>
              <a:rPr lang="en-US" sz="1600" dirty="0" err="1"/>
              <a:t>doi</a:t>
            </a:r>
            <a:r>
              <a:rPr lang="en-US" sz="1600" dirty="0"/>
              <a:t>: 10.1080/17512549.2025.2513282</a:t>
            </a:r>
            <a:endParaRPr lang="en-IN" sz="1600" dirty="0"/>
          </a:p>
          <a:p>
            <a:r>
              <a:rPr lang="en-US" sz="1600" dirty="0"/>
              <a:t>[10] C. Ding, J. Ke, M. Levine, and N. Zhou, “Potential of artificial intelligence in reducing energy and carbon emissions of commercial buildings at scale,” Nature Communications, vol. 15, p. 5916, Jul. 2024, doi:10.1038/s41467-024-50088-4.</a:t>
            </a:r>
            <a:endParaRPr lang="en-IN" sz="1600" dirty="0"/>
          </a:p>
        </p:txBody>
      </p:sp>
    </p:spTree>
    <p:extLst>
      <p:ext uri="{BB962C8B-B14F-4D97-AF65-F5344CB8AC3E}">
        <p14:creationId xmlns:p14="http://schemas.microsoft.com/office/powerpoint/2010/main" val="15784662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19A71B8-831F-1E0E-6FF8-825244422858}"/>
              </a:ext>
            </a:extLst>
          </p:cNvPr>
          <p:cNvSpPr txBox="1"/>
          <p:nvPr/>
        </p:nvSpPr>
        <p:spPr>
          <a:xfrm>
            <a:off x="4357395" y="2892490"/>
            <a:ext cx="4674637" cy="830997"/>
          </a:xfrm>
          <a:prstGeom prst="rect">
            <a:avLst/>
          </a:prstGeom>
          <a:noFill/>
        </p:spPr>
        <p:txBody>
          <a:bodyPr wrap="square" rtlCol="0">
            <a:spAutoFit/>
          </a:bodyPr>
          <a:lstStyle/>
          <a:p>
            <a:r>
              <a:rPr lang="en-US" sz="4800" dirty="0"/>
              <a:t>Thank You!!</a:t>
            </a:r>
            <a:endParaRPr lang="en-IN" sz="4800" dirty="0"/>
          </a:p>
        </p:txBody>
      </p:sp>
    </p:spTree>
    <p:extLst>
      <p:ext uri="{BB962C8B-B14F-4D97-AF65-F5344CB8AC3E}">
        <p14:creationId xmlns:p14="http://schemas.microsoft.com/office/powerpoint/2010/main" val="307601898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ABLE_ENDDRAG_ORIGIN_RECT" val="653*238"/>
  <p:tag name="TABLE_ENDDRAG_RECT" val="57*46*653*238"/>
</p:tagLst>
</file>

<file path=ppt/tags/tag2.xml><?xml version="1.0" encoding="utf-8"?>
<p:tagLst xmlns:a="http://schemas.openxmlformats.org/drawingml/2006/main" xmlns:r="http://schemas.openxmlformats.org/officeDocument/2006/relationships" xmlns:p="http://schemas.openxmlformats.org/presentationml/2006/main">
  <p:tag name="TABLE_ENDDRAG_ORIGIN_RECT" val="653*238"/>
  <p:tag name="TABLE_ENDDRAG_RECT" val="57*46*653*238"/>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70</TotalTime>
  <Words>2316</Words>
  <Application>Microsoft Office PowerPoint</Application>
  <PresentationFormat>Widescreen</PresentationFormat>
  <Paragraphs>193</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Wingdings</vt:lpstr>
      <vt:lpstr>Office Theme</vt:lpstr>
      <vt:lpstr>International Conference on Emerging Trends in Computers and Communications (ICETCC )</vt:lpstr>
      <vt:lpstr>Introduction</vt:lpstr>
      <vt:lpstr>Purpose</vt:lpstr>
      <vt:lpstr>Objectives</vt:lpstr>
      <vt:lpstr>Literature Review</vt:lpstr>
      <vt:lpstr>Literature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Atharva khairnar</cp:lastModifiedBy>
  <cp:revision>15</cp:revision>
  <dcterms:created xsi:type="dcterms:W3CDTF">2021-06-10T05:32:34Z</dcterms:created>
  <dcterms:modified xsi:type="dcterms:W3CDTF">2026-01-03T09:33:34Z</dcterms:modified>
</cp:coreProperties>
</file>